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4"/>
  </p:notesMasterIdLst>
  <p:sldIdLst>
    <p:sldId id="256" r:id="rId2"/>
    <p:sldId id="257" r:id="rId3"/>
    <p:sldId id="369" r:id="rId4"/>
    <p:sldId id="259" r:id="rId5"/>
    <p:sldId id="260" r:id="rId6"/>
    <p:sldId id="264" r:id="rId7"/>
    <p:sldId id="313" r:id="rId8"/>
    <p:sldId id="323" r:id="rId9"/>
    <p:sldId id="368" r:id="rId10"/>
    <p:sldId id="263" r:id="rId11"/>
    <p:sldId id="356" r:id="rId12"/>
    <p:sldId id="359" r:id="rId13"/>
    <p:sldId id="314" r:id="rId14"/>
    <p:sldId id="317" r:id="rId15"/>
    <p:sldId id="318" r:id="rId16"/>
    <p:sldId id="322" r:id="rId17"/>
    <p:sldId id="321" r:id="rId18"/>
    <p:sldId id="319" r:id="rId19"/>
    <p:sldId id="315" r:id="rId20"/>
    <p:sldId id="265" r:id="rId21"/>
    <p:sldId id="266" r:id="rId22"/>
    <p:sldId id="328" r:id="rId23"/>
    <p:sldId id="363" r:id="rId24"/>
    <p:sldId id="372" r:id="rId25"/>
    <p:sldId id="268" r:id="rId26"/>
    <p:sldId id="269" r:id="rId27"/>
    <p:sldId id="302" r:id="rId28"/>
    <p:sldId id="303" r:id="rId29"/>
    <p:sldId id="270" r:id="rId30"/>
    <p:sldId id="304" r:id="rId31"/>
    <p:sldId id="306" r:id="rId32"/>
    <p:sldId id="305" r:id="rId33"/>
    <p:sldId id="307" r:id="rId34"/>
    <p:sldId id="374" r:id="rId35"/>
    <p:sldId id="267" r:id="rId36"/>
    <p:sldId id="272" r:id="rId37"/>
    <p:sldId id="288" r:id="rId38"/>
    <p:sldId id="289" r:id="rId39"/>
    <p:sldId id="290" r:id="rId40"/>
    <p:sldId id="308" r:id="rId41"/>
    <p:sldId id="273" r:id="rId42"/>
    <p:sldId id="274" r:id="rId43"/>
    <p:sldId id="311" r:id="rId44"/>
    <p:sldId id="320" r:id="rId45"/>
    <p:sldId id="271" r:id="rId46"/>
    <p:sldId id="285" r:id="rId47"/>
    <p:sldId id="325" r:id="rId48"/>
    <p:sldId id="326" r:id="rId49"/>
    <p:sldId id="342" r:id="rId50"/>
    <p:sldId id="353" r:id="rId51"/>
    <p:sldId id="345" r:id="rId52"/>
    <p:sldId id="347" r:id="rId53"/>
    <p:sldId id="312" r:id="rId54"/>
    <p:sldId id="324" r:id="rId55"/>
    <p:sldId id="327" r:id="rId56"/>
    <p:sldId id="337" r:id="rId57"/>
    <p:sldId id="362" r:id="rId58"/>
    <p:sldId id="338" r:id="rId59"/>
    <p:sldId id="349" r:id="rId60"/>
    <p:sldId id="351" r:id="rId61"/>
    <p:sldId id="350" r:id="rId62"/>
    <p:sldId id="343" r:id="rId63"/>
    <p:sldId id="344" r:id="rId64"/>
    <p:sldId id="341" r:id="rId65"/>
    <p:sldId id="352" r:id="rId66"/>
    <p:sldId id="375" r:id="rId67"/>
    <p:sldId id="373" r:id="rId68"/>
    <p:sldId id="364" r:id="rId69"/>
    <p:sldId id="366" r:id="rId70"/>
    <p:sldId id="277" r:id="rId71"/>
    <p:sldId id="286" r:id="rId72"/>
    <p:sldId id="287" r:id="rId73"/>
    <p:sldId id="329" r:id="rId74"/>
    <p:sldId id="370" r:id="rId75"/>
    <p:sldId id="371" r:id="rId76"/>
    <p:sldId id="330" r:id="rId77"/>
    <p:sldId id="331" r:id="rId78"/>
    <p:sldId id="332" r:id="rId79"/>
    <p:sldId id="333" r:id="rId80"/>
    <p:sldId id="335" r:id="rId81"/>
    <p:sldId id="336" r:id="rId82"/>
    <p:sldId id="278" r:id="rId83"/>
    <p:sldId id="279" r:id="rId84"/>
    <p:sldId id="291" r:id="rId85"/>
    <p:sldId id="292" r:id="rId86"/>
    <p:sldId id="293" r:id="rId87"/>
    <p:sldId id="295" r:id="rId88"/>
    <p:sldId id="280" r:id="rId89"/>
    <p:sldId id="281" r:id="rId90"/>
    <p:sldId id="354" r:id="rId91"/>
    <p:sldId id="296" r:id="rId92"/>
    <p:sldId id="282" r:id="rId93"/>
    <p:sldId id="297" r:id="rId94"/>
    <p:sldId id="283" r:id="rId95"/>
    <p:sldId id="298" r:id="rId96"/>
    <p:sldId id="355" r:id="rId97"/>
    <p:sldId id="299" r:id="rId98"/>
    <p:sldId id="284" r:id="rId99"/>
    <p:sldId id="301" r:id="rId100"/>
    <p:sldId id="309" r:id="rId101"/>
    <p:sldId id="360" r:id="rId102"/>
    <p:sldId id="361" r:id="rId10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830" autoAdjust="0"/>
    <p:restoredTop sz="90672" autoAdjust="0"/>
  </p:normalViewPr>
  <p:slideViewPr>
    <p:cSldViewPr snapToGrid="0">
      <p:cViewPr>
        <p:scale>
          <a:sx n="67" d="100"/>
          <a:sy n="67" d="100"/>
        </p:scale>
        <p:origin x="560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97A70-5D39-467E-9A1D-5B097E5820B7}" type="datetimeFigureOut">
              <a:rPr lang="de-DE" smtClean="0"/>
              <a:t>12.02.2023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60F14-7E3C-469C-9510-B7083E26E6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140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PsycINFO</a:t>
            </a:r>
            <a:r>
              <a:rPr lang="de-DE" baseline="0" dirty="0"/>
              <a:t> = </a:t>
            </a:r>
            <a:r>
              <a:rPr lang="de-DE" baseline="0" dirty="0" err="1"/>
              <a:t>database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literature</a:t>
            </a:r>
            <a:r>
              <a:rPr lang="de-DE" baseline="0" dirty="0"/>
              <a:t>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field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psychology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896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V(y) = </a:t>
            </a:r>
            <a:r>
              <a:rPr lang="de-DE" dirty="0" err="1"/>
              <a:t>within-study</a:t>
            </a:r>
            <a:r>
              <a:rPr lang="de-DE" baseline="0" dirty="0"/>
              <a:t> </a:t>
            </a:r>
            <a:r>
              <a:rPr lang="de-DE" baseline="0" dirty="0" err="1"/>
              <a:t>variance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study</a:t>
            </a:r>
            <a:r>
              <a:rPr lang="de-DE" baseline="0" dirty="0"/>
              <a:t> i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6118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larger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smaller</a:t>
            </a:r>
            <a:r>
              <a:rPr lang="de-DE" dirty="0"/>
              <a:t> </a:t>
            </a:r>
            <a:r>
              <a:rPr lang="de-DE" dirty="0" err="1"/>
              <a:t>depending</a:t>
            </a:r>
            <a:r>
              <a:rPr lang="de-DE" baseline="0" dirty="0"/>
              <a:t> on </a:t>
            </a:r>
            <a:r>
              <a:rPr lang="de-DE" baseline="0" dirty="0" err="1"/>
              <a:t>participants</a:t>
            </a:r>
            <a:r>
              <a:rPr lang="de-DE" baseline="0" dirty="0"/>
              <a:t>‘ </a:t>
            </a:r>
            <a:r>
              <a:rPr lang="de-DE" baseline="0" dirty="0" err="1"/>
              <a:t>characteristics</a:t>
            </a:r>
            <a:r>
              <a:rPr lang="de-DE" baseline="0" dirty="0"/>
              <a:t> (</a:t>
            </a:r>
            <a:r>
              <a:rPr lang="de-DE" baseline="0" dirty="0" err="1"/>
              <a:t>age</a:t>
            </a:r>
            <a:r>
              <a:rPr lang="de-DE" baseline="0" dirty="0"/>
              <a:t>, BMI, </a:t>
            </a:r>
            <a:r>
              <a:rPr lang="de-DE" baseline="0" dirty="0" err="1"/>
              <a:t>ethnicity</a:t>
            </a:r>
            <a:r>
              <a:rPr lang="de-DE" baseline="0" dirty="0"/>
              <a:t>) </a:t>
            </a:r>
            <a:r>
              <a:rPr lang="de-DE" baseline="0" dirty="0">
                <a:sym typeface="Wingdings" panose="05000000000000000000" pitchFamily="2" charset="2"/>
              </a:rPr>
              <a:t> </a:t>
            </a:r>
            <a:r>
              <a:rPr lang="de-DE" baseline="0" dirty="0" err="1">
                <a:sym typeface="Wingdings" panose="05000000000000000000" pitchFamily="2" charset="2"/>
              </a:rPr>
              <a:t>assume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that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="1" baseline="0" dirty="0" err="1">
                <a:sym typeface="Wingdings" panose="05000000000000000000" pitchFamily="2" charset="2"/>
              </a:rPr>
              <a:t>true</a:t>
            </a:r>
            <a:r>
              <a:rPr lang="de-DE" b="1" baseline="0" dirty="0">
                <a:sym typeface="Wingdings" panose="05000000000000000000" pitchFamily="2" charset="2"/>
              </a:rPr>
              <a:t> </a:t>
            </a:r>
            <a:r>
              <a:rPr lang="de-DE" b="1" baseline="0" dirty="0" err="1">
                <a:sym typeface="Wingdings" panose="05000000000000000000" pitchFamily="2" charset="2"/>
              </a:rPr>
              <a:t>effects</a:t>
            </a:r>
            <a:r>
              <a:rPr lang="de-DE" b="1" baseline="0" dirty="0">
                <a:sym typeface="Wingdings" panose="05000000000000000000" pitchFamily="2" charset="2"/>
              </a:rPr>
              <a:t> </a:t>
            </a:r>
            <a:r>
              <a:rPr lang="de-DE" b="1" baseline="0" dirty="0" err="1">
                <a:sym typeface="Wingdings" panose="05000000000000000000" pitchFamily="2" charset="2"/>
              </a:rPr>
              <a:t>are</a:t>
            </a:r>
            <a:r>
              <a:rPr lang="de-DE" b="1" baseline="0" dirty="0">
                <a:sym typeface="Wingdings" panose="05000000000000000000" pitchFamily="2" charset="2"/>
              </a:rPr>
              <a:t> </a:t>
            </a:r>
            <a:r>
              <a:rPr lang="de-DE" b="1" baseline="0" dirty="0" err="1">
                <a:sym typeface="Wingdings" panose="05000000000000000000" pitchFamily="2" charset="2"/>
              </a:rPr>
              <a:t>normally</a:t>
            </a:r>
            <a:r>
              <a:rPr lang="de-DE" b="1" baseline="0" dirty="0">
                <a:sym typeface="Wingdings" panose="05000000000000000000" pitchFamily="2" charset="2"/>
              </a:rPr>
              <a:t> </a:t>
            </a:r>
            <a:r>
              <a:rPr lang="de-DE" b="1" baseline="0" dirty="0" err="1">
                <a:sym typeface="Wingdings" panose="05000000000000000000" pitchFamily="2" charset="2"/>
              </a:rPr>
              <a:t>distributed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552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Will </a:t>
            </a:r>
            <a:r>
              <a:rPr lang="de-DE" dirty="0" err="1"/>
              <a:t>come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options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deal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r>
              <a:rPr lang="de-DE" baseline="0" dirty="0"/>
              <a:t> (4 </a:t>
            </a:r>
            <a:r>
              <a:rPr lang="de-DE" baseline="0" dirty="0" err="1"/>
              <a:t>slides</a:t>
            </a:r>
            <a:r>
              <a:rPr lang="de-DE" baseline="0" dirty="0"/>
              <a:t> after </a:t>
            </a:r>
            <a:r>
              <a:rPr lang="de-DE" baseline="0" dirty="0" err="1"/>
              <a:t>this</a:t>
            </a:r>
            <a:r>
              <a:rPr lang="de-DE" baseline="0" dirty="0"/>
              <a:t> </a:t>
            </a:r>
            <a:r>
              <a:rPr lang="de-DE" baseline="0" dirty="0" err="1"/>
              <a:t>one</a:t>
            </a:r>
            <a:r>
              <a:rPr lang="de-DE" baseline="0" dirty="0"/>
              <a:t>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5023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 will </a:t>
            </a:r>
            <a:r>
              <a:rPr lang="de-DE" dirty="0" err="1"/>
              <a:t>come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trimm-</a:t>
            </a:r>
            <a:r>
              <a:rPr lang="de-DE" baseline="0" dirty="0" err="1"/>
              <a:t>and</a:t>
            </a:r>
            <a:r>
              <a:rPr lang="de-DE" baseline="0" dirty="0"/>
              <a:t>-</a:t>
            </a:r>
            <a:r>
              <a:rPr lang="de-DE" baseline="0" dirty="0" err="1"/>
              <a:t>fill</a:t>
            </a:r>
            <a:r>
              <a:rPr lang="de-DE" baseline="0" dirty="0"/>
              <a:t> </a:t>
            </a:r>
            <a:r>
              <a:rPr lang="de-DE" baseline="0" dirty="0" err="1"/>
              <a:t>later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054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 will </a:t>
            </a:r>
            <a:r>
              <a:rPr lang="de-DE" dirty="0" err="1"/>
              <a:t>show</a:t>
            </a:r>
            <a:r>
              <a:rPr lang="de-DE" dirty="0"/>
              <a:t> an</a:t>
            </a:r>
            <a:r>
              <a:rPr lang="de-DE" baseline="0" dirty="0"/>
              <a:t> </a:t>
            </a:r>
            <a:r>
              <a:rPr lang="de-DE" baseline="0" dirty="0" err="1"/>
              <a:t>executable</a:t>
            </a:r>
            <a:r>
              <a:rPr lang="de-DE" baseline="0" dirty="0"/>
              <a:t> </a:t>
            </a:r>
            <a:r>
              <a:rPr lang="de-DE" baseline="0" dirty="0" err="1"/>
              <a:t>example</a:t>
            </a:r>
            <a:r>
              <a:rPr lang="de-DE" baseline="0" dirty="0"/>
              <a:t> </a:t>
            </a:r>
            <a:r>
              <a:rPr lang="de-DE" baseline="0" dirty="0" err="1"/>
              <a:t>soon</a:t>
            </a:r>
            <a:r>
              <a:rPr lang="de-DE" baseline="0" dirty="0"/>
              <a:t>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1991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Metabin</a:t>
            </a:r>
            <a:r>
              <a:rPr lang="de-DE" dirty="0"/>
              <a:t>: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meta-</a:t>
            </a:r>
            <a:r>
              <a:rPr lang="de-DE" dirty="0" err="1"/>
              <a:t>analyses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binary</a:t>
            </a:r>
            <a:r>
              <a:rPr lang="de-DE" baseline="0" dirty="0"/>
              <a:t> </a:t>
            </a:r>
            <a:r>
              <a:rPr lang="de-DE" baseline="0" dirty="0" err="1"/>
              <a:t>outcomes</a:t>
            </a:r>
            <a:r>
              <a:rPr lang="de-DE" baseline="0" dirty="0"/>
              <a:t>. </a:t>
            </a:r>
            <a:r>
              <a:rPr lang="de-DE" baseline="0" dirty="0" err="1"/>
              <a:t>Subset</a:t>
            </a:r>
            <a:r>
              <a:rPr lang="de-DE" baseline="0" dirty="0"/>
              <a:t>: </a:t>
            </a:r>
            <a:r>
              <a:rPr lang="de-DE" baseline="0" dirty="0" err="1"/>
              <a:t>select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those</a:t>
            </a:r>
            <a:r>
              <a:rPr lang="de-DE" baseline="0" dirty="0"/>
              <a:t> 4 </a:t>
            </a:r>
            <a:r>
              <a:rPr lang="de-DE" baseline="0" dirty="0" err="1"/>
              <a:t>studies</a:t>
            </a:r>
            <a:r>
              <a:rPr lang="de-DE" baseline="0" dirty="0"/>
              <a:t> </a:t>
            </a:r>
            <a:r>
              <a:rPr lang="de-DE" baseline="0" dirty="0" err="1"/>
              <a:t>which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r>
              <a:rPr lang="de-DE" baseline="0" dirty="0"/>
              <a:t> </a:t>
            </a:r>
            <a:r>
              <a:rPr lang="de-DE" baseline="0" dirty="0" err="1"/>
              <a:t>number</a:t>
            </a:r>
            <a:r>
              <a:rPr lang="de-DE" baseline="0" dirty="0"/>
              <a:t> 41, 47, 51, </a:t>
            </a:r>
            <a:r>
              <a:rPr lang="de-DE" baseline="0" dirty="0" err="1"/>
              <a:t>and</a:t>
            </a:r>
            <a:r>
              <a:rPr lang="de-DE" baseline="0" dirty="0"/>
              <a:t> 59 in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data</a:t>
            </a:r>
            <a:r>
              <a:rPr lang="de-DE" baseline="0" dirty="0"/>
              <a:t> </a:t>
            </a:r>
            <a:r>
              <a:rPr lang="de-DE" baseline="0" dirty="0" err="1"/>
              <a:t>set</a:t>
            </a:r>
            <a:r>
              <a:rPr lang="de-DE" baseline="0" dirty="0"/>
              <a:t> (</a:t>
            </a:r>
            <a:r>
              <a:rPr lang="de-DE" baseline="0" dirty="0" err="1"/>
              <a:t>row</a:t>
            </a:r>
            <a:r>
              <a:rPr lang="de-DE" baseline="0" dirty="0"/>
              <a:t>).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467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escalc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baseline="0" dirty="0"/>
              <a:t>,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example</a:t>
            </a:r>
            <a:r>
              <a:rPr lang="de-DE" baseline="0" dirty="0"/>
              <a:t>, </a:t>
            </a:r>
            <a:r>
              <a:rPr lang="en-US" dirty="0"/>
              <a:t>for a particular study, </a:t>
            </a:r>
            <a:r>
              <a:rPr lang="en-US" dirty="0" err="1"/>
              <a:t>yi</a:t>
            </a:r>
            <a:r>
              <a:rPr lang="en-US" dirty="0"/>
              <a:t> and vi are known </a:t>
            </a:r>
            <a:r>
              <a:rPr lang="de-DE" dirty="0"/>
              <a:t>(i.e.,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en-US" dirty="0"/>
              <a:t>already been calculated) but the 2x2 table counts are not known</a:t>
            </a:r>
            <a:r>
              <a:rPr lang="de-DE" dirty="0"/>
              <a:t>;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en-US" dirty="0"/>
              <a:t>replace=FALSE, the </a:t>
            </a:r>
            <a:r>
              <a:rPr lang="en-US" dirty="0" err="1"/>
              <a:t>yi</a:t>
            </a:r>
            <a:r>
              <a:rPr lang="en-US" dirty="0"/>
              <a:t> and vi values for that study are not replaced</a:t>
            </a:r>
            <a:r>
              <a:rPr lang="en-US" baseline="0" dirty="0"/>
              <a:t> (from R help page)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791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Radial </a:t>
            </a:r>
            <a:r>
              <a:rPr lang="de-DE" dirty="0" err="1"/>
              <a:t>plot</a:t>
            </a:r>
            <a:r>
              <a:rPr lang="de-DE" dirty="0"/>
              <a:t>: Standard </a:t>
            </a:r>
            <a:r>
              <a:rPr lang="de-DE" dirty="0" err="1"/>
              <a:t>error</a:t>
            </a:r>
            <a:r>
              <a:rPr lang="de-DE" dirty="0"/>
              <a:t> (x) vs. </a:t>
            </a:r>
            <a:r>
              <a:rPr lang="de-DE" dirty="0" err="1"/>
              <a:t>Standardized</a:t>
            </a:r>
            <a:r>
              <a:rPr lang="de-DE" dirty="0"/>
              <a:t> </a:t>
            </a:r>
            <a:r>
              <a:rPr lang="de-DE" dirty="0" err="1"/>
              <a:t>estimate</a:t>
            </a:r>
            <a:r>
              <a:rPr lang="de-DE" dirty="0"/>
              <a:t> (y).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63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4887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Note: „</a:t>
            </a:r>
            <a:r>
              <a:rPr lang="de-DE" dirty="0" err="1"/>
              <a:t>correction</a:t>
            </a:r>
            <a:r>
              <a:rPr lang="de-DE" dirty="0"/>
              <a:t>“&gt;0 </a:t>
            </a:r>
            <a:r>
              <a:rPr lang="de-DE" dirty="0" err="1"/>
              <a:t>applies</a:t>
            </a:r>
            <a:r>
              <a:rPr lang="de-DE" dirty="0"/>
              <a:t> a </a:t>
            </a:r>
            <a:r>
              <a:rPr lang="de-DE" dirty="0" err="1"/>
              <a:t>continuity</a:t>
            </a:r>
            <a:r>
              <a:rPr lang="de-DE" dirty="0"/>
              <a:t>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all </a:t>
            </a:r>
            <a:r>
              <a:rPr lang="de-DE" dirty="0" err="1"/>
              <a:t>cells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baseline="0" dirty="0"/>
              <a:t> all </a:t>
            </a:r>
            <a:r>
              <a:rPr lang="de-DE" baseline="0" dirty="0" err="1"/>
              <a:t>studies</a:t>
            </a:r>
            <a:r>
              <a:rPr lang="de-DE" baseline="0" dirty="0"/>
              <a:t> (</a:t>
            </a:r>
            <a:r>
              <a:rPr lang="de-DE" baseline="0" dirty="0" err="1"/>
              <a:t>unless</a:t>
            </a:r>
            <a:r>
              <a:rPr lang="de-DE" baseline="0" dirty="0"/>
              <a:t> „</a:t>
            </a:r>
            <a:r>
              <a:rPr lang="de-DE" baseline="0" dirty="0" err="1"/>
              <a:t>correction.control</a:t>
            </a:r>
            <a:r>
              <a:rPr lang="de-DE" baseline="0" dirty="0"/>
              <a:t>=„</a:t>
            </a:r>
            <a:r>
              <a:rPr lang="de-DE" baseline="0" dirty="0" err="1"/>
              <a:t>single</a:t>
            </a:r>
            <a:r>
              <a:rPr lang="de-DE" baseline="0" dirty="0"/>
              <a:t>“, </a:t>
            </a:r>
            <a:r>
              <a:rPr lang="de-DE" baseline="0" dirty="0" err="1"/>
              <a:t>then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studies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at least 1 </a:t>
            </a:r>
            <a:r>
              <a:rPr lang="de-DE" baseline="0" dirty="0" err="1"/>
              <a:t>cell</a:t>
            </a:r>
            <a:r>
              <a:rPr lang="de-DE" baseline="0" dirty="0"/>
              <a:t>=0)</a:t>
            </a:r>
          </a:p>
          <a:p>
            <a:r>
              <a:rPr lang="de-DE" baseline="0" dirty="0" err="1"/>
              <a:t>method</a:t>
            </a:r>
            <a:r>
              <a:rPr lang="de-DE" baseline="0" dirty="0"/>
              <a:t>=</a:t>
            </a:r>
            <a:r>
              <a:rPr lang="de-DE" baseline="0" dirty="0" err="1"/>
              <a:t>method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calculate</a:t>
            </a:r>
            <a:r>
              <a:rPr lang="de-DE" baseline="0" dirty="0"/>
              <a:t> </a:t>
            </a:r>
            <a:r>
              <a:rPr lang="de-DE" baseline="0" dirty="0" err="1"/>
              <a:t>confidence</a:t>
            </a:r>
            <a:r>
              <a:rPr lang="de-DE" baseline="0" dirty="0"/>
              <a:t> </a:t>
            </a:r>
            <a:r>
              <a:rPr lang="de-DE" baseline="0" dirty="0" err="1"/>
              <a:t>intervals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sensitivities</a:t>
            </a:r>
            <a:r>
              <a:rPr lang="de-DE" baseline="0" dirty="0"/>
              <a:t> and </a:t>
            </a:r>
            <a:r>
              <a:rPr lang="de-DE" baseline="0" dirty="0" err="1"/>
              <a:t>specificities</a:t>
            </a:r>
            <a:r>
              <a:rPr lang="de-DE" baseline="0" dirty="0"/>
              <a:t> (alternatives: </a:t>
            </a:r>
            <a:r>
              <a:rPr lang="de-DE" baseline="0" dirty="0" err="1"/>
              <a:t>wald</a:t>
            </a:r>
            <a:r>
              <a:rPr lang="de-DE" baseline="0" dirty="0"/>
              <a:t>, </a:t>
            </a:r>
            <a:r>
              <a:rPr lang="de-DE" baseline="0" dirty="0" err="1"/>
              <a:t>wilson</a:t>
            </a:r>
            <a:r>
              <a:rPr lang="de-DE" baseline="0" dirty="0"/>
              <a:t>, </a:t>
            </a:r>
            <a:r>
              <a:rPr lang="de-DE" baseline="0" dirty="0" err="1"/>
              <a:t>agresti-coull</a:t>
            </a:r>
            <a:r>
              <a:rPr lang="de-DE" baseline="0" dirty="0"/>
              <a:t>, </a:t>
            </a:r>
            <a:r>
              <a:rPr lang="de-DE" baseline="0" dirty="0" err="1"/>
              <a:t>jeffreys</a:t>
            </a:r>
            <a:r>
              <a:rPr lang="de-DE" baseline="0" dirty="0"/>
              <a:t>, </a:t>
            </a:r>
            <a:r>
              <a:rPr lang="de-DE" baseline="0" dirty="0" err="1"/>
              <a:t>modifiedwilson</a:t>
            </a:r>
            <a:r>
              <a:rPr lang="de-DE" baseline="0" dirty="0"/>
              <a:t> etc.)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60F14-7E3C-469C-9510-B7083E26E600}" type="slidenum">
              <a:rPr lang="de-DE" smtClean="0"/>
              <a:t>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035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CC5E-1CBD-4972-B40D-A3EA842ADCEA}" type="datetime1">
              <a:rPr lang="de-DE" smtClean="0"/>
              <a:t>12.02.2023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6227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8A9E-0F4E-4C3E-84FA-FB4D1F7C16CA}" type="datetime1">
              <a:rPr lang="de-DE" smtClean="0"/>
              <a:t>12.02.2023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582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267E-88FE-4778-9CF3-5F98E27DF107}" type="datetime1">
              <a:rPr lang="de-DE" smtClean="0"/>
              <a:t>12.02.2023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3740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DBF87-A6EC-4B8A-8607-16EDC11779D3}" type="datetime1">
              <a:rPr lang="de-DE" smtClean="0"/>
              <a:t>12.02.2023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33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7D3C-62F8-4762-A2A2-2AD43E92104B}" type="datetime1">
              <a:rPr lang="de-DE" smtClean="0"/>
              <a:t>12.02.2023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047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07BD-70A6-4F87-BD2E-066F6D31DA27}" type="datetime1">
              <a:rPr lang="de-DE" smtClean="0"/>
              <a:t>12.02.2023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80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2F27D-FCE8-4AA6-91E9-FC1F3EF02A8F}" type="datetime1">
              <a:rPr lang="de-DE" smtClean="0"/>
              <a:t>12.02.2023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3241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A840D-452E-4ECB-96A9-1B2009335424}" type="datetime1">
              <a:rPr lang="de-DE" smtClean="0"/>
              <a:t>12.02.2023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92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49F9-4530-41B9-9DB4-E8C487A6EBCB}" type="datetime1">
              <a:rPr lang="de-DE" smtClean="0"/>
              <a:t>12.02.2023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811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10F6F-9601-4E71-BA10-F7D4E453D544}" type="datetime1">
              <a:rPr lang="de-DE" smtClean="0"/>
              <a:t>12.02.2023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299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29B50-DEED-4EAF-B37A-4CD585980A83}" type="datetime1">
              <a:rPr lang="de-DE" smtClean="0"/>
              <a:t>12.02.2023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214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3BCE7-2219-4717-97FC-0F4B8D72D60F}" type="datetime1">
              <a:rPr lang="de-DE" smtClean="0"/>
              <a:t>12.02.2023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85A77-EB3D-45C2-BA16-F5D3E3552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64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quator-network.or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isma-statement.org/Extensions/Protocols.aspx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lthevidence.org/documents/our-appraisal-tools/QA_Tool&amp;Dictionary_10Nov16.pdf" TargetMode="External"/><Relationship Id="rId2" Type="http://schemas.openxmlformats.org/officeDocument/2006/relationships/hyperlink" Target="https://www.nhlbi.nih.gov/health-topics/study-quality-assessment-tool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ristol.ac.uk/population-health-sciences/projects/quadas/quadas-2/" TargetMode="External"/><Relationship Id="rId4" Type="http://schemas.openxmlformats.org/officeDocument/2006/relationships/hyperlink" Target="http://www.ohri.ca/programs/clinical_epidemiology/oxford.asp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web/views/MetaAnalysis.html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iklinik-freiburg.de/imbi/stud-le/meta-analysis-with-r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down.org/MathiasHarrer/Doing_Meta_Analysis_in_R/metareg.html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31466/library/metafor/html/rma.uni.html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five-confidence-intervals-for-proportions-that-you-should-know-about-7ff5484c024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down.org/MathiasHarrer/Doing_Meta_Analysis_in_R/" TargetMode="External"/><Relationship Id="rId2" Type="http://schemas.openxmlformats.org/officeDocument/2006/relationships/hyperlink" Target="https://www.ncbi.nlm.nih.gov/pmc/articles/PMC3024725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an.r-project.org/web/views/MetaAnalysis.html" TargetMode="External"/><Relationship Id="rId5" Type="http://schemas.openxmlformats.org/officeDocument/2006/relationships/hyperlink" Target="https://cran.r-project.org/web/packages/mada/vignettes/mada.pdf" TargetMode="External"/><Relationship Id="rId4" Type="http://schemas.openxmlformats.org/officeDocument/2006/relationships/hyperlink" Target="http://www.metafor-project.org/doku.php" TargetMode="Externa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hyperlink" Target="https://training.cochrane.org/handbook/current" TargetMode="Externa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sz="5400" b="1" dirty="0" err="1"/>
              <a:t>Systematic</a:t>
            </a:r>
            <a:r>
              <a:rPr lang="de-DE" sz="5400" b="1" dirty="0"/>
              <a:t> </a:t>
            </a:r>
            <a:r>
              <a:rPr lang="de-DE" sz="5400" b="1"/>
              <a:t>reviews, </a:t>
            </a:r>
            <a:r>
              <a:rPr lang="de-DE" sz="5400" b="1" dirty="0"/>
              <a:t>Meta-analysis in R – a </a:t>
            </a:r>
            <a:r>
              <a:rPr lang="de-DE" sz="5400" b="1" dirty="0" err="1"/>
              <a:t>practical</a:t>
            </a:r>
            <a:r>
              <a:rPr lang="de-DE" sz="5400" b="1" dirty="0"/>
              <a:t> </a:t>
            </a:r>
            <a:r>
              <a:rPr lang="de-DE" sz="5400" b="1" dirty="0" err="1"/>
              <a:t>guide</a:t>
            </a:r>
            <a:br>
              <a:rPr lang="de-DE" sz="5400" b="1" dirty="0"/>
            </a:br>
            <a:r>
              <a:rPr lang="en-US" sz="2400" b="1" dirty="0"/>
              <a:t>Clinical Epidemiology - Principles, Methods and Applications</a:t>
            </a:r>
            <a:endParaRPr lang="de-DE" sz="24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217737"/>
          </a:xfrm>
        </p:spPr>
        <p:txBody>
          <a:bodyPr>
            <a:normAutofit lnSpcReduction="10000"/>
          </a:bodyPr>
          <a:lstStyle/>
          <a:p>
            <a:r>
              <a:rPr lang="de-DE" dirty="0"/>
              <a:t>Dr. Tobias Niedermaier</a:t>
            </a:r>
          </a:p>
          <a:p>
            <a:r>
              <a:rPr lang="en-US" dirty="0"/>
              <a:t>Division of Clinical Epidemiology and Aging Research</a:t>
            </a:r>
          </a:p>
          <a:p>
            <a:r>
              <a:rPr lang="en-US" dirty="0"/>
              <a:t>German Cancer Research Center (DKFZ)</a:t>
            </a:r>
          </a:p>
          <a:p>
            <a:r>
              <a:rPr lang="en-US" dirty="0"/>
              <a:t>Winter term 2022/23</a:t>
            </a:r>
          </a:p>
          <a:p>
            <a:r>
              <a:rPr lang="en-US"/>
              <a:t>February 14, 2023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5084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Background</a:t>
            </a:r>
          </a:p>
          <a:p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endParaRPr lang="de-DE" dirty="0"/>
          </a:p>
          <a:p>
            <a:r>
              <a:rPr lang="de-DE" dirty="0"/>
              <a:t>Key </a:t>
            </a:r>
            <a:r>
              <a:rPr lang="de-DE" dirty="0" err="1"/>
              <a:t>ideas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meta-analysis</a:t>
            </a:r>
          </a:p>
          <a:p>
            <a:r>
              <a:rPr lang="en-US" dirty="0"/>
              <a:t>Why naïve pooling is not reasonable</a:t>
            </a:r>
          </a:p>
          <a:p>
            <a:r>
              <a:rPr lang="de-DE" dirty="0" err="1"/>
              <a:t>Forest</a:t>
            </a:r>
            <a:r>
              <a:rPr lang="de-DE" dirty="0"/>
              <a:t> </a:t>
            </a:r>
            <a:r>
              <a:rPr lang="de-DE" dirty="0" err="1"/>
              <a:t>plot</a:t>
            </a:r>
            <a:endParaRPr lang="de-DE" dirty="0"/>
          </a:p>
          <a:p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in meta-analysis</a:t>
            </a:r>
          </a:p>
          <a:p>
            <a:r>
              <a:rPr lang="de-DE" dirty="0" err="1"/>
              <a:t>Worked</a:t>
            </a:r>
            <a:r>
              <a:rPr lang="de-DE" dirty="0"/>
              <a:t> </a:t>
            </a:r>
            <a:r>
              <a:rPr lang="de-DE" dirty="0" err="1"/>
              <a:t>examples</a:t>
            </a:r>
            <a:endParaRPr lang="de-DE" dirty="0"/>
          </a:p>
          <a:p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studies</a:t>
            </a:r>
            <a:endParaRPr lang="en-US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01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 –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r>
              <a:rPr lang="de-DE" dirty="0"/>
              <a:t> (SRs) </a:t>
            </a:r>
            <a:r>
              <a:rPr lang="de-DE" dirty="0" err="1"/>
              <a:t>aim</a:t>
            </a:r>
            <a:r>
              <a:rPr lang="de-DE" dirty="0"/>
              <a:t> at </a:t>
            </a:r>
            <a:r>
              <a:rPr lang="de-DE" dirty="0" err="1"/>
              <a:t>retrieving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summarizing</a:t>
            </a:r>
            <a:r>
              <a:rPr lang="de-DE" dirty="0"/>
              <a:t> all relevant </a:t>
            </a:r>
            <a:r>
              <a:rPr lang="de-DE" dirty="0" err="1"/>
              <a:t>studies</a:t>
            </a:r>
            <a:r>
              <a:rPr lang="de-DE" dirty="0"/>
              <a:t> on a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topic</a:t>
            </a:r>
            <a:endParaRPr lang="de-DE" dirty="0"/>
          </a:p>
          <a:p>
            <a:r>
              <a:rPr lang="de-DE" dirty="0" err="1"/>
              <a:t>Unlike</a:t>
            </a:r>
            <a:r>
              <a:rPr lang="de-DE" dirty="0"/>
              <a:t> narrative </a:t>
            </a:r>
            <a:r>
              <a:rPr lang="de-DE" dirty="0" err="1"/>
              <a:t>reviews</a:t>
            </a:r>
            <a:r>
              <a:rPr lang="de-DE" dirty="0"/>
              <a:t>, SRs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clear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strategy</a:t>
            </a:r>
            <a:r>
              <a:rPr lang="de-DE" dirty="0"/>
              <a:t> in relevant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bases</a:t>
            </a:r>
            <a:r>
              <a:rPr lang="de-DE" dirty="0"/>
              <a:t> (</a:t>
            </a:r>
            <a:r>
              <a:rPr lang="de-DE" dirty="0" err="1"/>
              <a:t>PubMed</a:t>
            </a:r>
            <a:r>
              <a:rPr lang="de-DE" dirty="0"/>
              <a:t>, Web </a:t>
            </a:r>
            <a:r>
              <a:rPr lang="de-DE" dirty="0" err="1"/>
              <a:t>of</a:t>
            </a:r>
            <a:r>
              <a:rPr lang="de-DE" dirty="0"/>
              <a:t> Science, </a:t>
            </a:r>
            <a:r>
              <a:rPr lang="de-DE" dirty="0" err="1"/>
              <a:t>Embase</a:t>
            </a:r>
            <a:r>
              <a:rPr lang="de-DE" dirty="0"/>
              <a:t>, </a:t>
            </a:r>
            <a:r>
              <a:rPr lang="de-DE" dirty="0" err="1"/>
              <a:t>Scopus</a:t>
            </a:r>
            <a:r>
              <a:rPr lang="de-DE" dirty="0"/>
              <a:t>, </a:t>
            </a:r>
            <a:r>
              <a:rPr lang="de-DE" dirty="0" err="1"/>
              <a:t>Cochrane</a:t>
            </a:r>
            <a:r>
              <a:rPr lang="de-DE" dirty="0"/>
              <a:t> </a:t>
            </a:r>
            <a:r>
              <a:rPr lang="de-DE" dirty="0" err="1"/>
              <a:t>library</a:t>
            </a:r>
            <a:r>
              <a:rPr lang="de-DE" dirty="0"/>
              <a:t>, …)</a:t>
            </a:r>
          </a:p>
          <a:p>
            <a:r>
              <a:rPr lang="de-DE" dirty="0"/>
              <a:t>SRs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prespecified</a:t>
            </a:r>
            <a:r>
              <a:rPr lang="de-DE" dirty="0"/>
              <a:t> in-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exclusion</a:t>
            </a:r>
            <a:r>
              <a:rPr lang="de-DE" dirty="0"/>
              <a:t> </a:t>
            </a:r>
            <a:r>
              <a:rPr lang="de-DE" dirty="0" err="1"/>
              <a:t>criteria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118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 – Meta-analysis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Meta-</a:t>
            </a:r>
            <a:r>
              <a:rPr lang="de-DE" dirty="0" err="1"/>
              <a:t>analyses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r>
              <a:rPr lang="de-DE" dirty="0"/>
              <a:t> but </a:t>
            </a:r>
            <a:r>
              <a:rPr lang="de-DE" dirty="0" err="1"/>
              <a:t>apply</a:t>
            </a:r>
            <a:r>
              <a:rPr lang="de-DE" dirty="0"/>
              <a:t> additional </a:t>
            </a:r>
            <a:r>
              <a:rPr lang="de-DE" dirty="0" err="1"/>
              <a:t>steps</a:t>
            </a:r>
            <a:r>
              <a:rPr lang="de-DE" dirty="0"/>
              <a:t>: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individual </a:t>
            </a:r>
            <a:r>
              <a:rPr lang="de-DE" dirty="0" err="1"/>
              <a:t>studies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summarized</a:t>
            </a:r>
            <a:r>
              <a:rPr lang="de-DE" dirty="0"/>
              <a:t> in a quantitative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come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pooled</a:t>
            </a:r>
            <a:r>
              <a:rPr lang="de-DE" dirty="0"/>
              <a:t> </a:t>
            </a:r>
            <a:r>
              <a:rPr lang="de-DE" dirty="0" err="1"/>
              <a:t>estimate</a:t>
            </a:r>
            <a:endParaRPr lang="de-DE" dirty="0"/>
          </a:p>
          <a:p>
            <a:r>
              <a:rPr lang="de-DE" dirty="0"/>
              <a:t>Additional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 in meta-</a:t>
            </a:r>
            <a:r>
              <a:rPr lang="de-DE" dirty="0" err="1"/>
              <a:t>analyses</a:t>
            </a:r>
            <a:r>
              <a:rPr lang="de-DE" dirty="0"/>
              <a:t>: </a:t>
            </a:r>
            <a:r>
              <a:rPr lang="de-DE" dirty="0" err="1"/>
              <a:t>estimation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r>
              <a:rPr lang="de-DE" dirty="0"/>
              <a:t>, </a:t>
            </a:r>
            <a:r>
              <a:rPr lang="de-DE" dirty="0" err="1"/>
              <a:t>including</a:t>
            </a:r>
            <a:r>
              <a:rPr lang="de-DE" dirty="0"/>
              <a:t> meta-regression (not </a:t>
            </a:r>
            <a:r>
              <a:rPr lang="de-DE" dirty="0" err="1"/>
              <a:t>necessarily</a:t>
            </a:r>
            <a:r>
              <a:rPr lang="de-DE" dirty="0"/>
              <a:t>), </a:t>
            </a:r>
            <a:r>
              <a:rPr lang="de-DE" dirty="0" err="1"/>
              <a:t>assessment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publication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, </a:t>
            </a:r>
            <a:r>
              <a:rPr lang="de-DE" dirty="0" err="1"/>
              <a:t>graphical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form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forest</a:t>
            </a:r>
            <a:r>
              <a:rPr lang="de-DE" dirty="0"/>
              <a:t> </a:t>
            </a:r>
            <a:r>
              <a:rPr lang="de-DE" dirty="0" err="1"/>
              <a:t>plots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plots</a:t>
            </a:r>
            <a:r>
              <a:rPr lang="de-DE" dirty="0"/>
              <a:t>. (Note: </a:t>
            </a:r>
            <a:r>
              <a:rPr lang="de-DE" dirty="0" err="1"/>
              <a:t>forest</a:t>
            </a:r>
            <a:r>
              <a:rPr lang="de-DE" dirty="0"/>
              <a:t> </a:t>
            </a:r>
            <a:r>
              <a:rPr lang="de-DE" dirty="0" err="1"/>
              <a:t>plots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summary</a:t>
            </a:r>
            <a:r>
              <a:rPr lang="de-DE" dirty="0"/>
              <a:t>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also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 in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r>
              <a:rPr lang="de-DE" dirty="0"/>
              <a:t>, </a:t>
            </a:r>
            <a:r>
              <a:rPr lang="de-DE" dirty="0" err="1"/>
              <a:t>though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917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Advantages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meta-analysis (SRMA) vs. narrative </a:t>
            </a:r>
            <a:r>
              <a:rPr lang="de-DE" dirty="0" err="1"/>
              <a:t>reviews</a:t>
            </a:r>
            <a:r>
              <a:rPr lang="de-DE" dirty="0"/>
              <a:t>:</a:t>
            </a:r>
          </a:p>
          <a:p>
            <a:pPr lvl="1"/>
            <a:r>
              <a:rPr lang="de-DE" b="1" dirty="0" err="1"/>
              <a:t>Reduce</a:t>
            </a:r>
            <a:r>
              <a:rPr lang="de-DE" b="1" dirty="0"/>
              <a:t> </a:t>
            </a:r>
            <a:r>
              <a:rPr lang="de-DE" b="1" dirty="0" err="1"/>
              <a:t>bias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reviewer</a:t>
            </a:r>
            <a:r>
              <a:rPr lang="de-DE" dirty="0"/>
              <a:t> (</a:t>
            </a:r>
            <a:r>
              <a:rPr lang="de-DE" dirty="0" err="1"/>
              <a:t>adhering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prespecified</a:t>
            </a:r>
            <a:r>
              <a:rPr lang="de-DE" dirty="0"/>
              <a:t> </a:t>
            </a:r>
            <a:r>
              <a:rPr lang="de-DE" dirty="0" err="1"/>
              <a:t>protocols</a:t>
            </a:r>
            <a:r>
              <a:rPr lang="de-DE" dirty="0"/>
              <a:t>) </a:t>
            </a:r>
            <a:r>
              <a:rPr lang="de-DE" dirty="0" err="1"/>
              <a:t>and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(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assessment</a:t>
            </a:r>
            <a:r>
              <a:rPr lang="de-DE" dirty="0"/>
              <a:t>)</a:t>
            </a:r>
          </a:p>
          <a:p>
            <a:pPr lvl="1"/>
            <a:r>
              <a:rPr lang="de-DE" b="1" dirty="0"/>
              <a:t>Higher </a:t>
            </a:r>
            <a:r>
              <a:rPr lang="de-DE" b="1" dirty="0" err="1"/>
              <a:t>precision</a:t>
            </a:r>
            <a:r>
              <a:rPr lang="de-DE" b="1" dirty="0"/>
              <a:t> </a:t>
            </a:r>
            <a:r>
              <a:rPr lang="de-DE" dirty="0"/>
              <a:t>(exhaustive </a:t>
            </a:r>
            <a:r>
              <a:rPr lang="de-DE" dirty="0" err="1"/>
              <a:t>search</a:t>
            </a:r>
            <a:r>
              <a:rPr lang="de-DE" dirty="0"/>
              <a:t>, potential </a:t>
            </a:r>
            <a:r>
              <a:rPr lang="de-DE" dirty="0" err="1"/>
              <a:t>inclusion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all relevant </a:t>
            </a:r>
            <a:r>
              <a:rPr lang="de-DE" dirty="0" err="1"/>
              <a:t>articles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)</a:t>
            </a:r>
          </a:p>
          <a:p>
            <a:r>
              <a:rPr lang="de-DE" dirty="0" err="1"/>
              <a:t>Hierarchy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evidence</a:t>
            </a:r>
            <a:r>
              <a:rPr lang="de-DE" dirty="0"/>
              <a:t>: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r>
              <a:rPr lang="de-DE" dirty="0"/>
              <a:t> and meta-</a:t>
            </a:r>
            <a:r>
              <a:rPr lang="de-DE" dirty="0" err="1"/>
              <a:t>analyses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en-US" dirty="0"/>
              <a:t>“</a:t>
            </a:r>
            <a:r>
              <a:rPr lang="de-DE" dirty="0"/>
              <a:t>on </a:t>
            </a:r>
            <a:r>
              <a:rPr lang="de-DE" dirty="0" err="1"/>
              <a:t>the</a:t>
            </a:r>
            <a:r>
              <a:rPr lang="de-DE" dirty="0"/>
              <a:t> top</a:t>
            </a:r>
            <a:r>
              <a:rPr lang="en-US" dirty="0"/>
              <a:t>”</a:t>
            </a:r>
            <a:r>
              <a:rPr lang="de-DE" dirty="0"/>
              <a:t> </a:t>
            </a:r>
            <a:r>
              <a:rPr lang="de-DE" dirty="0" err="1"/>
              <a:t>compared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types</a:t>
            </a:r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603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 err="1"/>
              <a:t>Evidence</a:t>
            </a:r>
            <a:r>
              <a:rPr lang="de-DE" dirty="0"/>
              <a:t> </a:t>
            </a:r>
            <a:r>
              <a:rPr lang="de-DE" dirty="0" err="1"/>
              <a:t>hierarchy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However</a:t>
            </a:r>
            <a:r>
              <a:rPr lang="de-DE" dirty="0"/>
              <a:t>: Meta-</a:t>
            </a:r>
            <a:r>
              <a:rPr lang="de-DE" dirty="0" err="1"/>
              <a:t>analyses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-quality </a:t>
            </a:r>
            <a:r>
              <a:rPr lang="de-DE" dirty="0" err="1"/>
              <a:t>studies</a:t>
            </a:r>
            <a:r>
              <a:rPr lang="de-DE" dirty="0"/>
              <a:t> will still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considered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-quality </a:t>
            </a:r>
            <a:r>
              <a:rPr lang="de-DE" dirty="0" err="1"/>
              <a:t>evidence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0" y="1699260"/>
            <a:ext cx="3040380" cy="3209290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1730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 in a systematic review (I):</a:t>
            </a:r>
          </a:p>
          <a:p>
            <a:r>
              <a:rPr lang="en-US" dirty="0"/>
              <a:t>Define research question</a:t>
            </a:r>
          </a:p>
          <a:p>
            <a:r>
              <a:rPr lang="en-US" dirty="0"/>
              <a:t>Optional, but recommended: </a:t>
            </a:r>
          </a:p>
          <a:p>
            <a:pPr lvl="1"/>
            <a:r>
              <a:rPr lang="en-US" dirty="0"/>
              <a:t>Write a study protocol </a:t>
            </a:r>
          </a:p>
          <a:p>
            <a:pPr lvl="1"/>
            <a:r>
              <a:rPr lang="en-US" dirty="0"/>
              <a:t>Register the protocol at PROSPERO (international register for systematic reviews). Why?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Avoid duplication of effort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Avoid data-driven modification in eligibility criteria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Avoid reporting bias and overstating of data-driven (rather than hypothesis-driven) findings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Avoid publication bias in subsequent meta-analyses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227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Steps in a systematic review (II):</a:t>
            </a:r>
          </a:p>
          <a:p>
            <a:r>
              <a:rPr lang="de-DE" dirty="0" err="1"/>
              <a:t>Develop</a:t>
            </a:r>
            <a:r>
              <a:rPr lang="de-DE" dirty="0"/>
              <a:t> a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strategy</a:t>
            </a:r>
            <a:endParaRPr lang="de-DE" dirty="0"/>
          </a:p>
          <a:p>
            <a:r>
              <a:rPr lang="de-DE" dirty="0" err="1"/>
              <a:t>Define</a:t>
            </a:r>
            <a:r>
              <a:rPr lang="de-DE" dirty="0"/>
              <a:t> in-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exclusion</a:t>
            </a:r>
            <a:r>
              <a:rPr lang="de-DE" dirty="0"/>
              <a:t> </a:t>
            </a:r>
            <a:r>
              <a:rPr lang="de-DE" dirty="0" err="1"/>
              <a:t>criteria</a:t>
            </a:r>
            <a:endParaRPr lang="de-DE" dirty="0"/>
          </a:p>
          <a:p>
            <a:r>
              <a:rPr lang="de-DE" dirty="0"/>
              <a:t>Remove </a:t>
            </a:r>
            <a:r>
              <a:rPr lang="de-DE" dirty="0" err="1"/>
              <a:t>duplicate</a:t>
            </a:r>
            <a:r>
              <a:rPr lang="de-DE" dirty="0"/>
              <a:t> </a:t>
            </a:r>
            <a:r>
              <a:rPr lang="de-DE" dirty="0" err="1"/>
              <a:t>articles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bases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searched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screen</a:t>
            </a:r>
            <a:r>
              <a:rPr lang="de-DE" dirty="0"/>
              <a:t> </a:t>
            </a:r>
            <a:r>
              <a:rPr lang="de-DE" dirty="0" err="1"/>
              <a:t>unique</a:t>
            </a:r>
            <a:r>
              <a:rPr lang="de-DE" dirty="0"/>
              <a:t> </a:t>
            </a:r>
            <a:r>
              <a:rPr lang="de-DE" dirty="0" err="1"/>
              <a:t>articles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abstract</a:t>
            </a:r>
            <a:endParaRPr lang="de-DE" dirty="0"/>
          </a:p>
          <a:p>
            <a:r>
              <a:rPr lang="de-DE" dirty="0" err="1"/>
              <a:t>Obtain</a:t>
            </a:r>
            <a:r>
              <a:rPr lang="de-DE" dirty="0"/>
              <a:t> and </a:t>
            </a:r>
            <a:r>
              <a:rPr lang="de-DE" dirty="0" err="1"/>
              <a:t>screen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texts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potentially</a:t>
            </a:r>
            <a:r>
              <a:rPr lang="de-DE" dirty="0"/>
              <a:t> relevant </a:t>
            </a:r>
            <a:r>
              <a:rPr lang="de-DE" dirty="0" err="1"/>
              <a:t>articles</a:t>
            </a:r>
            <a:r>
              <a:rPr lang="de-DE" dirty="0"/>
              <a:t> and </a:t>
            </a:r>
            <a:r>
              <a:rPr lang="de-DE" dirty="0" err="1"/>
              <a:t>decide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in-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exclude</a:t>
            </a:r>
            <a:endParaRPr lang="de-DE" dirty="0"/>
          </a:p>
          <a:p>
            <a:r>
              <a:rPr lang="de-DE" dirty="0" err="1"/>
              <a:t>Extract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relevant </a:t>
            </a:r>
            <a:r>
              <a:rPr lang="de-DE" dirty="0" err="1"/>
              <a:t>studies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at least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researchers</a:t>
            </a:r>
            <a:r>
              <a:rPr lang="de-DE" dirty="0"/>
              <a:t> </a:t>
            </a:r>
            <a:r>
              <a:rPr lang="de-DE" dirty="0" err="1"/>
              <a:t>idenpendently</a:t>
            </a:r>
            <a:endParaRPr lang="de-DE" dirty="0"/>
          </a:p>
          <a:p>
            <a:r>
              <a:rPr lang="de-DE" dirty="0" err="1"/>
              <a:t>Assess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/ </a:t>
            </a:r>
            <a:r>
              <a:rPr lang="de-DE" dirty="0" err="1"/>
              <a:t>risk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bias</a:t>
            </a:r>
            <a:endParaRPr lang="de-DE" dirty="0"/>
          </a:p>
          <a:p>
            <a:r>
              <a:rPr lang="de-DE" dirty="0" err="1"/>
              <a:t>Summarize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 err="1"/>
              <a:t>manuscript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3792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Protocols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endParaRPr lang="de-DE" dirty="0"/>
          </a:p>
          <a:p>
            <a:r>
              <a:rPr lang="de-DE" sz="2400" dirty="0"/>
              <a:t>Statement </a:t>
            </a:r>
            <a:r>
              <a:rPr lang="de-DE" sz="2400" dirty="0" err="1"/>
              <a:t>paper</a:t>
            </a:r>
            <a:r>
              <a:rPr lang="de-DE" sz="2400" dirty="0"/>
              <a:t>:  </a:t>
            </a:r>
            <a:r>
              <a:rPr lang="de-DE" sz="2400" dirty="0" err="1"/>
              <a:t>Moher</a:t>
            </a:r>
            <a:r>
              <a:rPr lang="de-DE" sz="2400" dirty="0"/>
              <a:t> D, </a:t>
            </a:r>
            <a:r>
              <a:rPr lang="de-DE" sz="2400" dirty="0" err="1"/>
              <a:t>Shamseer</a:t>
            </a:r>
            <a:r>
              <a:rPr lang="de-DE" sz="2400" dirty="0"/>
              <a:t> L, Clarke M, </a:t>
            </a:r>
            <a:r>
              <a:rPr lang="de-DE" sz="2400" dirty="0" err="1"/>
              <a:t>Ghersi</a:t>
            </a:r>
            <a:r>
              <a:rPr lang="de-DE" sz="2400" dirty="0"/>
              <a:t> D, </a:t>
            </a:r>
            <a:r>
              <a:rPr lang="de-DE" sz="2400" dirty="0" err="1"/>
              <a:t>Liberati</a:t>
            </a:r>
            <a:r>
              <a:rPr lang="de-DE" sz="2400" dirty="0"/>
              <a:t> A, </a:t>
            </a:r>
            <a:r>
              <a:rPr lang="de-DE" sz="2400" dirty="0" err="1"/>
              <a:t>Petticrew</a:t>
            </a:r>
            <a:r>
              <a:rPr lang="de-DE" sz="2400" dirty="0"/>
              <a:t> M, </a:t>
            </a:r>
            <a:r>
              <a:rPr lang="de-DE" sz="2400" dirty="0" err="1"/>
              <a:t>Shekelle</a:t>
            </a:r>
            <a:r>
              <a:rPr lang="de-DE" sz="2400" dirty="0"/>
              <a:t> P, Stewart LA. </a:t>
            </a:r>
            <a:r>
              <a:rPr lang="de-DE" sz="2400" dirty="0" err="1"/>
              <a:t>Preferred</a:t>
            </a:r>
            <a:r>
              <a:rPr lang="de-DE" sz="2400" dirty="0"/>
              <a:t> Reporting Items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Systematic</a:t>
            </a:r>
            <a:r>
              <a:rPr lang="de-DE" sz="2400" dirty="0"/>
              <a:t> Review </a:t>
            </a:r>
            <a:r>
              <a:rPr lang="de-DE" sz="2400" dirty="0" err="1"/>
              <a:t>and</a:t>
            </a:r>
            <a:r>
              <a:rPr lang="de-DE" sz="2400" dirty="0"/>
              <a:t> Meta-Analysis </a:t>
            </a:r>
            <a:r>
              <a:rPr lang="de-DE" sz="2400" dirty="0" err="1"/>
              <a:t>Protocols</a:t>
            </a:r>
            <a:r>
              <a:rPr lang="de-DE" sz="2400" dirty="0"/>
              <a:t> (PRISMA-P) 2015 </a:t>
            </a:r>
            <a:r>
              <a:rPr lang="de-DE" sz="2400" dirty="0" err="1"/>
              <a:t>statement</a:t>
            </a:r>
            <a:r>
              <a:rPr lang="de-DE" sz="2400" dirty="0"/>
              <a:t>. </a:t>
            </a:r>
            <a:r>
              <a:rPr lang="de-DE" sz="2400" dirty="0" err="1"/>
              <a:t>Syst</a:t>
            </a:r>
            <a:r>
              <a:rPr lang="de-DE" sz="2400" dirty="0"/>
              <a:t> </a:t>
            </a:r>
            <a:r>
              <a:rPr lang="de-DE" sz="2400" dirty="0" err="1"/>
              <a:t>Rev</a:t>
            </a:r>
            <a:r>
              <a:rPr lang="de-DE" sz="2400" dirty="0"/>
              <a:t>. 2015;4(1):1. </a:t>
            </a:r>
            <a:r>
              <a:rPr lang="de-DE" sz="2400" dirty="0" err="1"/>
              <a:t>doi</a:t>
            </a:r>
            <a:r>
              <a:rPr lang="de-DE" sz="2400" dirty="0"/>
              <a:t>: 10.1186/2046-4053-4-1</a:t>
            </a:r>
          </a:p>
          <a:p>
            <a:r>
              <a:rPr lang="de-DE" sz="2400" dirty="0"/>
              <a:t>Explanation </a:t>
            </a:r>
            <a:r>
              <a:rPr lang="de-DE" sz="2400" dirty="0" err="1"/>
              <a:t>and</a:t>
            </a:r>
            <a:r>
              <a:rPr lang="de-DE" sz="2400" dirty="0"/>
              <a:t> Elaboration </a:t>
            </a:r>
            <a:r>
              <a:rPr lang="de-DE" sz="2400" dirty="0" err="1"/>
              <a:t>paper</a:t>
            </a:r>
            <a:r>
              <a:rPr lang="de-DE" sz="2400" dirty="0"/>
              <a:t>: </a:t>
            </a:r>
            <a:r>
              <a:rPr lang="de-DE" sz="2400" dirty="0" err="1"/>
              <a:t>Shamseer</a:t>
            </a:r>
            <a:r>
              <a:rPr lang="de-DE" sz="2400" dirty="0"/>
              <a:t> L, </a:t>
            </a:r>
            <a:r>
              <a:rPr lang="de-DE" sz="2400" dirty="0" err="1"/>
              <a:t>Moher</a:t>
            </a:r>
            <a:r>
              <a:rPr lang="de-DE" sz="2400" dirty="0"/>
              <a:t> D, Clarke M, </a:t>
            </a:r>
            <a:r>
              <a:rPr lang="de-DE" sz="2400" dirty="0" err="1"/>
              <a:t>Ghersi</a:t>
            </a:r>
            <a:r>
              <a:rPr lang="de-DE" sz="2400" dirty="0"/>
              <a:t> D, </a:t>
            </a:r>
            <a:r>
              <a:rPr lang="de-DE" sz="2400" dirty="0" err="1"/>
              <a:t>Liberati</a:t>
            </a:r>
            <a:r>
              <a:rPr lang="de-DE" sz="2400" dirty="0"/>
              <a:t> A, </a:t>
            </a:r>
            <a:r>
              <a:rPr lang="de-DE" sz="2400" dirty="0" err="1"/>
              <a:t>Petticrew</a:t>
            </a:r>
            <a:r>
              <a:rPr lang="de-DE" sz="2400" dirty="0"/>
              <a:t> M, </a:t>
            </a:r>
            <a:r>
              <a:rPr lang="de-DE" sz="2400" dirty="0" err="1"/>
              <a:t>Shekelle</a:t>
            </a:r>
            <a:r>
              <a:rPr lang="de-DE" sz="2400" dirty="0"/>
              <a:t> P, Stewart LA, </a:t>
            </a:r>
            <a:r>
              <a:rPr lang="de-DE" sz="2400" dirty="0" err="1"/>
              <a:t>the</a:t>
            </a:r>
            <a:r>
              <a:rPr lang="de-DE" sz="2400" dirty="0"/>
              <a:t> PRISMA-P Group. </a:t>
            </a:r>
            <a:r>
              <a:rPr lang="de-DE" sz="2400" dirty="0" err="1"/>
              <a:t>Preferred</a:t>
            </a:r>
            <a:r>
              <a:rPr lang="de-DE" sz="2400" dirty="0"/>
              <a:t> Reporting Items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Systematic</a:t>
            </a:r>
            <a:r>
              <a:rPr lang="de-DE" sz="2400" dirty="0"/>
              <a:t> Review </a:t>
            </a:r>
            <a:r>
              <a:rPr lang="de-DE" sz="2400" dirty="0" err="1"/>
              <a:t>and</a:t>
            </a:r>
            <a:r>
              <a:rPr lang="de-DE" sz="2400" dirty="0"/>
              <a:t> Meta-Analysis </a:t>
            </a:r>
            <a:r>
              <a:rPr lang="de-DE" sz="2400" dirty="0" err="1"/>
              <a:t>Protocols</a:t>
            </a:r>
            <a:r>
              <a:rPr lang="de-DE" sz="2400" dirty="0"/>
              <a:t> (PRISMA-P) 2015: </a:t>
            </a:r>
            <a:r>
              <a:rPr lang="de-DE" sz="2400" dirty="0" err="1"/>
              <a:t>elaboration</a:t>
            </a:r>
            <a:r>
              <a:rPr lang="de-DE" sz="2400" dirty="0"/>
              <a:t> </a:t>
            </a:r>
            <a:r>
              <a:rPr lang="de-DE" sz="2400" dirty="0" err="1"/>
              <a:t>and</a:t>
            </a:r>
            <a:r>
              <a:rPr lang="de-DE" sz="2400" dirty="0"/>
              <a:t> </a:t>
            </a:r>
            <a:r>
              <a:rPr lang="de-DE" sz="2400" dirty="0" err="1"/>
              <a:t>explanation</a:t>
            </a:r>
            <a:r>
              <a:rPr lang="de-DE" sz="2400" dirty="0"/>
              <a:t>. BMJ 2015.349:g7647. </a:t>
            </a:r>
            <a:r>
              <a:rPr lang="de-DE" sz="2400" dirty="0" err="1"/>
              <a:t>doi</a:t>
            </a:r>
            <a:r>
              <a:rPr lang="de-DE" sz="2400" dirty="0"/>
              <a:t>: 10.1136/bmj.g7647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153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/>
              <a:t>Reporting </a:t>
            </a:r>
            <a:r>
              <a:rPr lang="de-DE" dirty="0" err="1"/>
              <a:t>guidelines</a:t>
            </a:r>
            <a:endParaRPr lang="de-DE" dirty="0"/>
          </a:p>
          <a:p>
            <a:r>
              <a:rPr lang="de-DE" dirty="0"/>
              <a:t>PRISMA </a:t>
            </a:r>
            <a:r>
              <a:rPr lang="de-DE" sz="2000" dirty="0"/>
              <a:t>(</a:t>
            </a:r>
            <a:r>
              <a:rPr lang="en-US" sz="2000" dirty="0"/>
              <a:t>Preferred Reporting Items for Systematic Reviews and Meta-Analyses</a:t>
            </a:r>
            <a:r>
              <a:rPr lang="de-DE" sz="2000" dirty="0"/>
              <a:t>)</a:t>
            </a:r>
          </a:p>
          <a:p>
            <a:r>
              <a:rPr lang="de-DE" dirty="0"/>
              <a:t>PRISMA-P </a:t>
            </a:r>
            <a:r>
              <a:rPr lang="de-DE" sz="2000" dirty="0"/>
              <a:t>(PRISMA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review</a:t>
            </a:r>
            <a:r>
              <a:rPr lang="de-DE" sz="2000" dirty="0"/>
              <a:t> </a:t>
            </a:r>
            <a:r>
              <a:rPr lang="de-DE" sz="2000" dirty="0" err="1"/>
              <a:t>protocols</a:t>
            </a:r>
            <a:r>
              <a:rPr lang="de-DE" sz="2000" dirty="0"/>
              <a:t>)</a:t>
            </a:r>
            <a:endParaRPr lang="de-DE" dirty="0"/>
          </a:p>
          <a:p>
            <a:r>
              <a:rPr lang="de-DE" dirty="0"/>
              <a:t>MOOSE </a:t>
            </a:r>
            <a:r>
              <a:rPr lang="de-DE" sz="2000" dirty="0"/>
              <a:t>(</a:t>
            </a:r>
            <a:r>
              <a:rPr lang="en-US" sz="2000" dirty="0"/>
              <a:t>Meta-analyses Of Observational Studies in Epidemiology</a:t>
            </a:r>
            <a:r>
              <a:rPr lang="de-DE" sz="2000" dirty="0"/>
              <a:t>)</a:t>
            </a:r>
          </a:p>
          <a:p>
            <a:r>
              <a:rPr lang="de-DE" dirty="0"/>
              <a:t>STARD </a:t>
            </a:r>
            <a:r>
              <a:rPr lang="de-DE" sz="2000" dirty="0"/>
              <a:t>(</a:t>
            </a:r>
            <a:r>
              <a:rPr lang="en-US" sz="2000" dirty="0"/>
              <a:t>Standards for Reporting Diagnostic accuracy studies</a:t>
            </a:r>
            <a:r>
              <a:rPr lang="de-DE" sz="2000" dirty="0"/>
              <a:t>)</a:t>
            </a:r>
          </a:p>
          <a:p>
            <a:r>
              <a:rPr lang="de-DE" dirty="0" err="1"/>
              <a:t>Others</a:t>
            </a:r>
            <a:r>
              <a:rPr lang="de-DE" dirty="0"/>
              <a:t>, plus </a:t>
            </a:r>
            <a:r>
              <a:rPr lang="de-DE" dirty="0" err="1"/>
              <a:t>explanations</a:t>
            </a:r>
            <a:r>
              <a:rPr lang="de-DE" dirty="0"/>
              <a:t> etc.: </a:t>
            </a:r>
            <a:r>
              <a:rPr lang="de-DE" dirty="0">
                <a:hlinkClick r:id="rId2"/>
              </a:rPr>
              <a:t>https://www.equator-network.org/</a:t>
            </a:r>
            <a:r>
              <a:rPr lang="de-DE" dirty="0"/>
              <a:t> </a:t>
            </a:r>
          </a:p>
          <a:p>
            <a:r>
              <a:rPr lang="de-DE" sz="2200" dirty="0"/>
              <a:t>STROBE – </a:t>
            </a:r>
            <a:r>
              <a:rPr lang="de-DE" sz="2200" dirty="0" err="1"/>
              <a:t>obervational</a:t>
            </a:r>
            <a:r>
              <a:rPr lang="de-DE" sz="2200" dirty="0"/>
              <a:t> </a:t>
            </a:r>
            <a:r>
              <a:rPr lang="de-DE" sz="2200" dirty="0" err="1"/>
              <a:t>studies</a:t>
            </a:r>
            <a:endParaRPr lang="de-DE" sz="2200" dirty="0"/>
          </a:p>
          <a:p>
            <a:r>
              <a:rPr lang="de-DE" sz="2200" dirty="0"/>
              <a:t>CARE – </a:t>
            </a:r>
            <a:r>
              <a:rPr lang="de-DE" sz="2200" dirty="0" err="1"/>
              <a:t>case</a:t>
            </a:r>
            <a:r>
              <a:rPr lang="de-DE" sz="2200" dirty="0"/>
              <a:t> </a:t>
            </a:r>
            <a:r>
              <a:rPr lang="de-DE" sz="2200" dirty="0" err="1"/>
              <a:t>reports</a:t>
            </a:r>
            <a:endParaRPr lang="de-DE" sz="2200" dirty="0"/>
          </a:p>
          <a:p>
            <a:r>
              <a:rPr lang="de-DE" sz="2200" dirty="0"/>
              <a:t>SRQR – qualitative </a:t>
            </a:r>
            <a:r>
              <a:rPr lang="de-DE" sz="2200" dirty="0" err="1"/>
              <a:t>research</a:t>
            </a:r>
            <a:endParaRPr lang="de-DE" sz="2200" dirty="0"/>
          </a:p>
          <a:p>
            <a:r>
              <a:rPr lang="de-DE" sz="2200" dirty="0"/>
              <a:t>CHEERS – </a:t>
            </a:r>
            <a:r>
              <a:rPr lang="de-DE" sz="2200" dirty="0" err="1"/>
              <a:t>economic</a:t>
            </a:r>
            <a:r>
              <a:rPr lang="de-DE" sz="2200" dirty="0"/>
              <a:t> </a:t>
            </a:r>
            <a:r>
              <a:rPr lang="de-DE" sz="2200" dirty="0" err="1"/>
              <a:t>evaluations</a:t>
            </a:r>
            <a:endParaRPr lang="de-DE" sz="2200" dirty="0"/>
          </a:p>
          <a:p>
            <a:r>
              <a:rPr lang="de-DE" sz="2200" dirty="0"/>
              <a:t>AGREE – </a:t>
            </a:r>
            <a:r>
              <a:rPr lang="de-DE" sz="2200" dirty="0" err="1"/>
              <a:t>clinical</a:t>
            </a:r>
            <a:r>
              <a:rPr lang="de-DE" sz="2200" dirty="0"/>
              <a:t> </a:t>
            </a:r>
            <a:r>
              <a:rPr lang="de-DE" sz="2200" dirty="0" err="1"/>
              <a:t>practice</a:t>
            </a:r>
            <a:r>
              <a:rPr lang="de-DE" sz="2200" dirty="0"/>
              <a:t> </a:t>
            </a:r>
            <a:r>
              <a:rPr lang="de-DE" sz="2200" dirty="0" err="1"/>
              <a:t>guidelines</a:t>
            </a:r>
            <a:endParaRPr lang="de-DE"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653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 14 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27 PRISMA </a:t>
            </a:r>
            <a:r>
              <a:rPr lang="de-DE" dirty="0" err="1"/>
              <a:t>checklist</a:t>
            </a:r>
            <a:r>
              <a:rPr lang="de-DE" dirty="0"/>
              <a:t> </a:t>
            </a:r>
            <a:r>
              <a:rPr lang="de-DE" dirty="0" err="1"/>
              <a:t>items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1" r="293"/>
          <a:stretch/>
        </p:blipFill>
        <p:spPr>
          <a:xfrm>
            <a:off x="1268906" y="1825625"/>
            <a:ext cx="6586838" cy="4351338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640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Remaining</a:t>
            </a:r>
            <a:r>
              <a:rPr lang="de-DE" dirty="0"/>
              <a:t> PRISMA </a:t>
            </a:r>
            <a:r>
              <a:rPr lang="de-DE" dirty="0" err="1"/>
              <a:t>checklist</a:t>
            </a:r>
            <a:r>
              <a:rPr lang="de-DE" dirty="0"/>
              <a:t> </a:t>
            </a:r>
            <a:r>
              <a:rPr lang="de-DE" dirty="0" err="1"/>
              <a:t>items</a:t>
            </a:r>
            <a:endParaRPr lang="de-DE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</p:nvPr>
        </p:nvGraphicFramePr>
        <p:xfrm>
          <a:off x="628650" y="1904313"/>
          <a:ext cx="7886699" cy="41939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2813">
                  <a:extLst>
                    <a:ext uri="{9D8B030D-6E8A-4147-A177-3AD203B41FA5}">
                      <a16:colId xmlns:a16="http://schemas.microsoft.com/office/drawing/2014/main" val="3331496952"/>
                    </a:ext>
                  </a:extLst>
                </a:gridCol>
                <a:gridCol w="280185">
                  <a:extLst>
                    <a:ext uri="{9D8B030D-6E8A-4147-A177-3AD203B41FA5}">
                      <a16:colId xmlns:a16="http://schemas.microsoft.com/office/drawing/2014/main" val="3137867935"/>
                    </a:ext>
                  </a:extLst>
                </a:gridCol>
                <a:gridCol w="5499935">
                  <a:extLst>
                    <a:ext uri="{9D8B030D-6E8A-4147-A177-3AD203B41FA5}">
                      <a16:colId xmlns:a16="http://schemas.microsoft.com/office/drawing/2014/main" val="3826404140"/>
                    </a:ext>
                  </a:extLst>
                </a:gridCol>
                <a:gridCol w="653766">
                  <a:extLst>
                    <a:ext uri="{9D8B030D-6E8A-4147-A177-3AD203B41FA5}">
                      <a16:colId xmlns:a16="http://schemas.microsoft.com/office/drawing/2014/main" val="558391002"/>
                    </a:ext>
                  </a:extLst>
                </a:gridCol>
              </a:tblGrid>
              <a:tr h="34400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CA" sz="900">
                          <a:effectLst/>
                        </a:rPr>
                        <a:t>Section/topic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CA" sz="900">
                          <a:effectLst/>
                        </a:rPr>
                        <a:t>#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CA" sz="900">
                          <a:effectLst/>
                        </a:rPr>
                        <a:t>Checklist item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CA" sz="900">
                          <a:effectLst/>
                        </a:rPr>
                        <a:t>Reported on page #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 anchor="ctr"/>
                </a:tc>
                <a:extLst>
                  <a:ext uri="{0D108BD9-81ED-4DB2-BD59-A6C34878D82A}">
                    <a16:rowId xmlns:a16="http://schemas.microsoft.com/office/drawing/2014/main" val="3021186778"/>
                  </a:ext>
                </a:extLst>
              </a:tr>
              <a:tr h="29834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Risk of bias across studies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15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Specify any assessment of risk of bias that may affect the cumulative evidence (e.g., publication bias, selective reporting within studies).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1470785471"/>
                  </a:ext>
                </a:extLst>
              </a:tr>
              <a:tr h="29471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Additional analyses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16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Describe methods of additional analyses (e.g., sensitivity or subgroup analyses, meta-regression), if done, indicating which were pre-specified.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4116033604"/>
                  </a:ext>
                </a:extLst>
              </a:tr>
              <a:tr h="173819">
                <a:tc grid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CA" sz="900">
                          <a:effectLst/>
                        </a:rPr>
                        <a:t>RESULTS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3954466068"/>
                  </a:ext>
                </a:extLst>
              </a:tr>
              <a:tr h="29990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Study selection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17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Give numbers of studies screened, assessed for eligibility, and included in the review, with reasons for exclusions at each stage, ideally with a flow diagram.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382597427"/>
                  </a:ext>
                </a:extLst>
              </a:tr>
              <a:tr h="29990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Study characteristics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18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For each study, present characteristics for which data were extracted (e.g., study size, PICOS, follow-up period) and provide the citations.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2817392345"/>
                  </a:ext>
                </a:extLst>
              </a:tr>
              <a:tr h="1727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Risk of bias within studies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19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Present data on risk of bias of each study and, if available, any outcome level assessment (see item 12).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4031286194"/>
                  </a:ext>
                </a:extLst>
              </a:tr>
              <a:tr h="29990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Results of individual studies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20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For all outcomes considered (benefits or harms), present, for each study: (a) simple summary data for each intervention group (b) effect estimates and confidence intervals, ideally with a forest plot.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3784680672"/>
                  </a:ext>
                </a:extLst>
              </a:tr>
              <a:tr h="173819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Synthesis of results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21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Present results of each meta-analysis done, including confidence intervals and measures of consistency.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1399226205"/>
                  </a:ext>
                </a:extLst>
              </a:tr>
              <a:tr h="17278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Risk of bias across studies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22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Present results of any assessment of risk of bias across studies (see Item 15).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3462907821"/>
                  </a:ext>
                </a:extLst>
              </a:tr>
              <a:tr h="203913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Additional analysis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23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Give results of additional analyses, if done (e.g., sensitivity or subgroup analyses, meta-regression [see Item 16]).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1462601697"/>
                  </a:ext>
                </a:extLst>
              </a:tr>
              <a:tr h="173819">
                <a:tc grid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CA" sz="900">
                          <a:effectLst/>
                        </a:rPr>
                        <a:t>DISCUSSION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3247733608"/>
                  </a:ext>
                </a:extLst>
              </a:tr>
              <a:tr h="29990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Summary of evidence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24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Summarize the main findings including the strength of evidence for each main outcome; consider their relevance to key groups (e.g., healthcare providers, users, and policy makers).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140259059"/>
                  </a:ext>
                </a:extLst>
              </a:tr>
              <a:tr h="29990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Limitations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25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Discuss limitations at study and outcome level (e.g., risk of bias), and at review-level (e.g., incomplete retrieval of identified research, reporting bias).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151395825"/>
                  </a:ext>
                </a:extLst>
              </a:tr>
              <a:tr h="21792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Conclusions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26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Provide a general interpretation of the results in the context of other evidence, and implications for future research.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276905389"/>
                  </a:ext>
                </a:extLst>
              </a:tr>
              <a:tr h="172781">
                <a:tc grid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CA" sz="900">
                          <a:effectLst/>
                        </a:rPr>
                        <a:t>FUNDING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CA" sz="1000">
                          <a:effectLst/>
                        </a:rPr>
                        <a:t> 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3998143393"/>
                  </a:ext>
                </a:extLst>
              </a:tr>
              <a:tr h="295751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Funding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27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800">
                          <a:effectLst/>
                        </a:rPr>
                        <a:t>Describe sources of funding for the systematic review and other support (e.g., supply of data); role of funders for the systematic review. </a:t>
                      </a:r>
                      <a:endParaRPr lang="de-DE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CA" sz="1000" dirty="0">
                          <a:effectLst/>
                        </a:rPr>
                        <a:t> </a:t>
                      </a:r>
                      <a:endParaRPr lang="de-DE" sz="1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6037" marR="56037" marT="0" marB="0"/>
                </a:tc>
                <a:extLst>
                  <a:ext uri="{0D108BD9-81ED-4DB2-BD59-A6C34878D82A}">
                    <a16:rowId xmlns:a16="http://schemas.microsoft.com/office/drawing/2014/main" val="1021144492"/>
                  </a:ext>
                </a:extLst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269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Background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Protocols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reviews</a:t>
            </a:r>
            <a:endParaRPr lang="de-DE" dirty="0"/>
          </a:p>
          <a:p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section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manuscript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PRISMA-P </a:t>
            </a:r>
            <a:r>
              <a:rPr lang="de-DE" dirty="0" err="1"/>
              <a:t>checklist</a:t>
            </a:r>
            <a:r>
              <a:rPr lang="de-DE" dirty="0"/>
              <a:t> </a:t>
            </a:r>
            <a:r>
              <a:rPr lang="de-DE" dirty="0" err="1"/>
              <a:t>items</a:t>
            </a:r>
            <a:r>
              <a:rPr lang="de-DE" dirty="0"/>
              <a:t> </a:t>
            </a:r>
            <a:r>
              <a:rPr lang="de-DE" dirty="0" err="1"/>
              <a:t>mimic</a:t>
            </a:r>
            <a:r>
              <a:rPr lang="de-DE" dirty="0"/>
              <a:t>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PRISMA </a:t>
            </a:r>
            <a:r>
              <a:rPr lang="de-DE" dirty="0" err="1"/>
              <a:t>checklist</a:t>
            </a:r>
            <a:r>
              <a:rPr lang="de-DE" dirty="0"/>
              <a:t> </a:t>
            </a:r>
            <a:r>
              <a:rPr lang="de-DE" dirty="0" err="1"/>
              <a:t>items</a:t>
            </a:r>
            <a:r>
              <a:rPr lang="de-DE" dirty="0"/>
              <a:t> but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on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planning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did</a:t>
            </a:r>
            <a:endParaRPr lang="de-DE" dirty="0"/>
          </a:p>
          <a:p>
            <a:r>
              <a:rPr lang="de-DE" dirty="0"/>
              <a:t>Items </a:t>
            </a:r>
            <a:r>
              <a:rPr lang="de-DE" dirty="0" err="1"/>
              <a:t>regarding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Discussion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in PRISMA-P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obvious</a:t>
            </a:r>
            <a:r>
              <a:rPr lang="de-DE" dirty="0"/>
              <a:t> </a:t>
            </a:r>
            <a:r>
              <a:rPr lang="de-DE" dirty="0" err="1"/>
              <a:t>reasons</a:t>
            </a:r>
            <a:endParaRPr lang="de-DE" dirty="0"/>
          </a:p>
          <a:p>
            <a:r>
              <a:rPr lang="de-DE" dirty="0"/>
              <a:t>Checklist, </a:t>
            </a:r>
            <a:r>
              <a:rPr lang="de-DE" dirty="0" err="1"/>
              <a:t>statement</a:t>
            </a:r>
            <a:r>
              <a:rPr lang="de-DE" dirty="0"/>
              <a:t>,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explanation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elaboration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>
                <a:hlinkClick r:id="rId2"/>
              </a:rPr>
              <a:t>http://www.prisma-statement.org/Extensions/Protocols.aspx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3154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Search </a:t>
            </a:r>
            <a:r>
              <a:rPr lang="de-DE" dirty="0" err="1"/>
              <a:t>strategy</a:t>
            </a:r>
            <a:r>
              <a:rPr lang="de-DE" dirty="0"/>
              <a:t> – </a:t>
            </a:r>
            <a:r>
              <a:rPr lang="de-DE" dirty="0" err="1"/>
              <a:t>sources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dirty="0"/>
              <a:t>Potential </a:t>
            </a:r>
            <a:r>
              <a:rPr lang="de-DE" dirty="0" err="1"/>
              <a:t>article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: </a:t>
            </a:r>
          </a:p>
          <a:p>
            <a:pPr marL="0" indent="0">
              <a:buNone/>
            </a:pPr>
            <a:r>
              <a:rPr lang="de-DE" dirty="0"/>
              <a:t>-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:</a:t>
            </a:r>
          </a:p>
          <a:p>
            <a:r>
              <a:rPr lang="de-DE" dirty="0" err="1"/>
              <a:t>PubMed</a:t>
            </a:r>
            <a:r>
              <a:rPr lang="de-DE" dirty="0"/>
              <a:t>, Web </a:t>
            </a:r>
            <a:r>
              <a:rPr lang="de-DE" dirty="0" err="1"/>
              <a:t>of</a:t>
            </a:r>
            <a:r>
              <a:rPr lang="de-DE" dirty="0"/>
              <a:t> Science, EMBASE, </a:t>
            </a:r>
            <a:r>
              <a:rPr lang="de-DE" dirty="0" err="1"/>
              <a:t>Scopus</a:t>
            </a:r>
            <a:r>
              <a:rPr lang="de-DE" dirty="0"/>
              <a:t>, </a:t>
            </a:r>
            <a:r>
              <a:rPr lang="de-DE" dirty="0" err="1"/>
              <a:t>Cochrane</a:t>
            </a:r>
            <a:r>
              <a:rPr lang="de-DE" dirty="0"/>
              <a:t> Library, </a:t>
            </a:r>
            <a:r>
              <a:rPr lang="de-DE" dirty="0" err="1"/>
              <a:t>PsycINFO</a:t>
            </a:r>
            <a:r>
              <a:rPr lang="de-DE" dirty="0"/>
              <a:t>, Europe PMC, (Google Scholar)</a:t>
            </a:r>
          </a:p>
          <a:p>
            <a:r>
              <a:rPr lang="de-DE" dirty="0" err="1"/>
              <a:t>Cochrane</a:t>
            </a:r>
            <a:r>
              <a:rPr lang="de-DE" dirty="0"/>
              <a:t> </a:t>
            </a:r>
            <a:r>
              <a:rPr lang="de-DE" dirty="0" err="1"/>
              <a:t>Controlled</a:t>
            </a:r>
            <a:r>
              <a:rPr lang="de-DE" dirty="0"/>
              <a:t> Trials Register</a:t>
            </a:r>
          </a:p>
          <a:p>
            <a:pPr marL="0" indent="0">
              <a:buNone/>
            </a:pPr>
            <a:r>
              <a:rPr lang="en-US" dirty="0"/>
              <a:t>- “</a:t>
            </a:r>
            <a:r>
              <a:rPr lang="de-DE" dirty="0"/>
              <a:t>Manual</a:t>
            </a:r>
            <a:r>
              <a:rPr lang="en-US" dirty="0"/>
              <a:t>”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:</a:t>
            </a:r>
          </a:p>
          <a:p>
            <a:r>
              <a:rPr lang="de-DE" dirty="0"/>
              <a:t>Cross-</a:t>
            </a:r>
            <a:r>
              <a:rPr lang="de-DE" dirty="0" err="1"/>
              <a:t>referencing</a:t>
            </a:r>
            <a:r>
              <a:rPr lang="de-DE" dirty="0"/>
              <a:t> (</a:t>
            </a:r>
            <a:r>
              <a:rPr lang="de-DE" dirty="0" err="1"/>
              <a:t>citing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cited</a:t>
            </a:r>
            <a:r>
              <a:rPr lang="de-DE" dirty="0"/>
              <a:t> </a:t>
            </a:r>
            <a:r>
              <a:rPr lang="de-DE" dirty="0" err="1"/>
              <a:t>articles</a:t>
            </a:r>
            <a:r>
              <a:rPr lang="de-DE" dirty="0"/>
              <a:t>)</a:t>
            </a:r>
          </a:p>
          <a:p>
            <a:r>
              <a:rPr lang="de-DE" dirty="0"/>
              <a:t>Find </a:t>
            </a:r>
            <a:r>
              <a:rPr lang="de-DE" dirty="0" err="1"/>
              <a:t>articles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author</a:t>
            </a:r>
            <a:r>
              <a:rPr lang="de-DE" dirty="0"/>
              <a:t>/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group</a:t>
            </a:r>
            <a:endParaRPr lang="de-DE" dirty="0"/>
          </a:p>
          <a:p>
            <a:r>
              <a:rPr lang="de-DE" dirty="0"/>
              <a:t>Abstract </a:t>
            </a:r>
            <a:r>
              <a:rPr lang="de-DE" dirty="0" err="1"/>
              <a:t>books</a:t>
            </a:r>
            <a:r>
              <a:rPr lang="de-DE" dirty="0"/>
              <a:t>, </a:t>
            </a:r>
            <a:r>
              <a:rPr lang="de-DE" dirty="0" err="1"/>
              <a:t>conference</a:t>
            </a:r>
            <a:r>
              <a:rPr lang="de-DE" dirty="0"/>
              <a:t> </a:t>
            </a:r>
            <a:r>
              <a:rPr lang="de-DE" dirty="0" err="1"/>
              <a:t>proceedings</a:t>
            </a:r>
            <a:r>
              <a:rPr lang="de-DE" dirty="0"/>
              <a:t> etc.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0900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Search </a:t>
            </a:r>
            <a:r>
              <a:rPr lang="de-DE" dirty="0" err="1"/>
              <a:t>strategy</a:t>
            </a:r>
            <a:r>
              <a:rPr lang="de-DE" dirty="0"/>
              <a:t> –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terms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Having</a:t>
            </a:r>
            <a:r>
              <a:rPr lang="de-DE" dirty="0"/>
              <a:t> </a:t>
            </a:r>
            <a:r>
              <a:rPr lang="de-DE" dirty="0" err="1"/>
              <a:t>appropriate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terms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crucial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review</a:t>
            </a:r>
            <a:r>
              <a:rPr lang="de-DE" dirty="0"/>
              <a:t>, so </a:t>
            </a:r>
            <a:r>
              <a:rPr lang="de-DE" dirty="0" err="1"/>
              <a:t>some</a:t>
            </a:r>
            <a:r>
              <a:rPr lang="de-DE" dirty="0"/>
              <a:t> time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spent</a:t>
            </a:r>
            <a:r>
              <a:rPr lang="de-DE" dirty="0"/>
              <a:t> on </a:t>
            </a:r>
            <a:r>
              <a:rPr lang="de-DE" dirty="0" err="1"/>
              <a:t>it</a:t>
            </a:r>
            <a:r>
              <a:rPr lang="de-DE" dirty="0"/>
              <a:t> in </a:t>
            </a:r>
            <a:r>
              <a:rPr lang="de-DE" dirty="0" err="1"/>
              <a:t>order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repetetive</a:t>
            </a:r>
            <a:r>
              <a:rPr lang="de-DE" dirty="0"/>
              <a:t> </a:t>
            </a:r>
            <a:r>
              <a:rPr lang="de-DE" dirty="0" err="1"/>
              <a:t>searching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previously</a:t>
            </a:r>
            <a:r>
              <a:rPr lang="de-DE" dirty="0"/>
              <a:t> </a:t>
            </a:r>
            <a:r>
              <a:rPr lang="de-DE" dirty="0" err="1"/>
              <a:t>inappropriate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terms</a:t>
            </a:r>
            <a:endParaRPr lang="de-DE" dirty="0"/>
          </a:p>
          <a:p>
            <a:r>
              <a:rPr lang="de-DE" dirty="0" err="1"/>
              <a:t>Advice</a:t>
            </a:r>
            <a:r>
              <a:rPr lang="de-DE" dirty="0"/>
              <a:t>: Check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terms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SRs </a:t>
            </a:r>
            <a:r>
              <a:rPr lang="de-DE" dirty="0" err="1"/>
              <a:t>published</a:t>
            </a:r>
            <a:r>
              <a:rPr lang="de-DE" dirty="0"/>
              <a:t> on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topics</a:t>
            </a:r>
            <a:r>
              <a:rPr lang="de-DE" dirty="0"/>
              <a:t> in high-ranking </a:t>
            </a:r>
            <a:r>
              <a:rPr lang="de-DE" dirty="0" err="1"/>
              <a:t>journals</a:t>
            </a:r>
            <a:endParaRPr lang="de-DE" dirty="0"/>
          </a:p>
          <a:p>
            <a:r>
              <a:rPr lang="de-DE" dirty="0"/>
              <a:t>Try </a:t>
            </a:r>
            <a:r>
              <a:rPr lang="de-DE" dirty="0" err="1"/>
              <a:t>to</a:t>
            </a:r>
            <a:r>
              <a:rPr lang="de-DE" dirty="0"/>
              <a:t> do a </a:t>
            </a:r>
            <a:r>
              <a:rPr lang="de-DE" dirty="0" err="1"/>
              <a:t>preliminary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, </a:t>
            </a:r>
            <a:r>
              <a:rPr lang="de-DE" dirty="0" err="1"/>
              <a:t>sorted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relevance</a:t>
            </a:r>
            <a:r>
              <a:rPr lang="de-DE" dirty="0"/>
              <a:t>, </a:t>
            </a:r>
            <a:r>
              <a:rPr lang="de-DE" dirty="0" err="1"/>
              <a:t>obtain</a:t>
            </a:r>
            <a:r>
              <a:rPr lang="de-DE" dirty="0"/>
              <a:t> a </a:t>
            </a:r>
            <a:r>
              <a:rPr lang="de-DE" dirty="0" err="1"/>
              <a:t>few</a:t>
            </a:r>
            <a:r>
              <a:rPr lang="de-DE" dirty="0"/>
              <a:t> relevant </a:t>
            </a:r>
            <a:r>
              <a:rPr lang="de-DE" dirty="0" err="1"/>
              <a:t>articles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, find </a:t>
            </a:r>
            <a:r>
              <a:rPr lang="de-DE" dirty="0" err="1"/>
              <a:t>further</a:t>
            </a:r>
            <a:r>
              <a:rPr lang="de-DE" dirty="0"/>
              <a:t> relevant </a:t>
            </a:r>
            <a:r>
              <a:rPr lang="de-DE" dirty="0" err="1"/>
              <a:t>articles</a:t>
            </a:r>
            <a:r>
              <a:rPr lang="de-DE" dirty="0"/>
              <a:t> via </a:t>
            </a:r>
            <a:r>
              <a:rPr lang="de-DE" dirty="0" err="1"/>
              <a:t>cross-referencing</a:t>
            </a:r>
            <a:r>
              <a:rPr lang="de-DE" dirty="0"/>
              <a:t>, check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preliminary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identified</a:t>
            </a:r>
            <a:r>
              <a:rPr lang="de-DE" dirty="0"/>
              <a:t> </a:t>
            </a:r>
            <a:r>
              <a:rPr lang="de-DE" dirty="0" err="1"/>
              <a:t>those</a:t>
            </a:r>
            <a:r>
              <a:rPr lang="de-DE" dirty="0"/>
              <a:t> relevant </a:t>
            </a:r>
            <a:r>
              <a:rPr lang="de-DE" dirty="0" err="1"/>
              <a:t>articles</a:t>
            </a:r>
            <a:r>
              <a:rPr lang="de-DE" dirty="0"/>
              <a:t>, </a:t>
            </a:r>
            <a:r>
              <a:rPr lang="de-DE" dirty="0" err="1"/>
              <a:t>refine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necessary</a:t>
            </a:r>
            <a:endParaRPr lang="de-DE" dirty="0"/>
          </a:p>
          <a:p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terms</a:t>
            </a:r>
            <a:r>
              <a:rPr lang="de-DE" dirty="0"/>
              <a:t> </a:t>
            </a:r>
            <a:r>
              <a:rPr lang="de-DE" dirty="0" err="1"/>
              <a:t>checked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peers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7451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Search </a:t>
            </a:r>
            <a:r>
              <a:rPr lang="de-DE" dirty="0" err="1"/>
              <a:t>strategy</a:t>
            </a:r>
            <a:r>
              <a:rPr lang="de-DE" dirty="0"/>
              <a:t> – </a:t>
            </a:r>
            <a:r>
              <a:rPr lang="de-DE" dirty="0" err="1"/>
              <a:t>example</a:t>
            </a:r>
            <a:r>
              <a:rPr lang="de-DE" dirty="0"/>
              <a:t> in </a:t>
            </a:r>
            <a:r>
              <a:rPr lang="de-DE" dirty="0" err="1"/>
              <a:t>PubMed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Web </a:t>
            </a:r>
            <a:r>
              <a:rPr lang="de-DE" dirty="0" err="1"/>
              <a:t>of</a:t>
            </a:r>
            <a:r>
              <a:rPr lang="de-DE" dirty="0"/>
              <a:t> Science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49" y="1825625"/>
            <a:ext cx="7172326" cy="45847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PubMed</a:t>
            </a:r>
            <a:r>
              <a:rPr lang="de-DE" dirty="0"/>
              <a:t> –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fecal</a:t>
            </a:r>
            <a:r>
              <a:rPr lang="de-DE" dirty="0"/>
              <a:t> </a:t>
            </a:r>
            <a:r>
              <a:rPr lang="de-DE" dirty="0" err="1"/>
              <a:t>immunochemical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(FIT[</a:t>
            </a:r>
            <a:r>
              <a:rPr lang="en-US" sz="2200" dirty="0" err="1"/>
              <a:t>ti</a:t>
            </a:r>
            <a:r>
              <a:rPr lang="en-US" sz="2200" dirty="0"/>
              <a:t>/ab] OR </a:t>
            </a:r>
            <a:r>
              <a:rPr lang="en-US" sz="2200" dirty="0" err="1"/>
              <a:t>iFOBT</a:t>
            </a:r>
            <a:r>
              <a:rPr lang="en-US" sz="2200" dirty="0"/>
              <a:t>[</a:t>
            </a:r>
            <a:r>
              <a:rPr lang="en-US" sz="2200" dirty="0" err="1"/>
              <a:t>ti</a:t>
            </a:r>
            <a:r>
              <a:rPr lang="en-US" sz="2200" dirty="0"/>
              <a:t>/ab] OR FOBT[</a:t>
            </a:r>
            <a:r>
              <a:rPr lang="en-US" sz="2200" dirty="0" err="1"/>
              <a:t>ti</a:t>
            </a:r>
            <a:r>
              <a:rPr lang="en-US" sz="2200" dirty="0"/>
              <a:t>/ab] OR stool[</a:t>
            </a:r>
            <a:r>
              <a:rPr lang="en-US" sz="2200" dirty="0" err="1"/>
              <a:t>ti</a:t>
            </a:r>
            <a:r>
              <a:rPr lang="en-US" sz="2200" dirty="0"/>
              <a:t>/ab] OR fecal[</a:t>
            </a:r>
            <a:r>
              <a:rPr lang="en-US" sz="2200" dirty="0" err="1"/>
              <a:t>ti</a:t>
            </a:r>
            <a:r>
              <a:rPr lang="en-US" sz="2200" dirty="0"/>
              <a:t>/ab] OR </a:t>
            </a:r>
            <a:r>
              <a:rPr lang="en-US" sz="2200" dirty="0" err="1"/>
              <a:t>faecal</a:t>
            </a:r>
            <a:r>
              <a:rPr lang="en-US" sz="2200" dirty="0"/>
              <a:t>[</a:t>
            </a:r>
            <a:r>
              <a:rPr lang="en-US" sz="2200" dirty="0" err="1"/>
              <a:t>ti</a:t>
            </a:r>
            <a:r>
              <a:rPr lang="en-US" sz="2200" dirty="0"/>
              <a:t>/ab] OR occult[</a:t>
            </a:r>
            <a:r>
              <a:rPr lang="en-US" sz="2200" dirty="0" err="1"/>
              <a:t>ti</a:t>
            </a:r>
            <a:r>
              <a:rPr lang="en-US" sz="2200" dirty="0"/>
              <a:t>/ab])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 AND (CRC[</a:t>
            </a:r>
            <a:r>
              <a:rPr lang="en-US" sz="2200" dirty="0" err="1"/>
              <a:t>ti</a:t>
            </a:r>
            <a:r>
              <a:rPr lang="en-US" sz="2200" dirty="0"/>
              <a:t>/ab] OR </a:t>
            </a:r>
            <a:r>
              <a:rPr lang="en-US" sz="2200" dirty="0" err="1"/>
              <a:t>colorect</a:t>
            </a:r>
            <a:r>
              <a:rPr lang="en-US" sz="2200" dirty="0"/>
              <a:t>*[</a:t>
            </a:r>
            <a:r>
              <a:rPr lang="en-US" sz="2200" dirty="0" err="1"/>
              <a:t>ti</a:t>
            </a:r>
            <a:r>
              <a:rPr lang="en-US" sz="2200" dirty="0"/>
              <a:t>/ab] OR rectal[</a:t>
            </a:r>
            <a:r>
              <a:rPr lang="en-US" sz="2200" dirty="0" err="1"/>
              <a:t>ti</a:t>
            </a:r>
            <a:r>
              <a:rPr lang="en-US" sz="2200" dirty="0"/>
              <a:t>/ab] OR rectum[</a:t>
            </a:r>
            <a:r>
              <a:rPr lang="en-US" sz="2200" dirty="0" err="1"/>
              <a:t>ti</a:t>
            </a:r>
            <a:r>
              <a:rPr lang="en-US" sz="2200" dirty="0"/>
              <a:t>/ab] OR colon[</a:t>
            </a:r>
            <a:r>
              <a:rPr lang="en-US" sz="2200" dirty="0" err="1"/>
              <a:t>ti</a:t>
            </a:r>
            <a:r>
              <a:rPr lang="en-US" sz="2200" dirty="0"/>
              <a:t>/ab] OR colonic[</a:t>
            </a:r>
            <a:r>
              <a:rPr lang="en-US" sz="2200" dirty="0" err="1"/>
              <a:t>ti</a:t>
            </a:r>
            <a:r>
              <a:rPr lang="en-US" sz="2200" dirty="0"/>
              <a:t>/ab] OR bowel[</a:t>
            </a:r>
            <a:r>
              <a:rPr lang="en-US" sz="2200" dirty="0" err="1"/>
              <a:t>ti</a:t>
            </a:r>
            <a:r>
              <a:rPr lang="en-US" sz="2200" dirty="0"/>
              <a:t>/ab])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  AND (carcinoma*[</a:t>
            </a:r>
            <a:r>
              <a:rPr lang="en-US" sz="2200" dirty="0" err="1"/>
              <a:t>ti</a:t>
            </a:r>
            <a:r>
              <a:rPr lang="en-US" sz="2200" dirty="0"/>
              <a:t>/ab] OR cancer[</a:t>
            </a:r>
            <a:r>
              <a:rPr lang="en-US" sz="2200" dirty="0" err="1"/>
              <a:t>ti</a:t>
            </a:r>
            <a:r>
              <a:rPr lang="en-US" sz="2200" dirty="0"/>
              <a:t>/ab] OR cancers[</a:t>
            </a:r>
            <a:r>
              <a:rPr lang="en-US" sz="2200" dirty="0" err="1"/>
              <a:t>ti</a:t>
            </a:r>
            <a:r>
              <a:rPr lang="en-US" sz="2200" dirty="0"/>
              <a:t>/ab] OR cancerous[</a:t>
            </a:r>
            <a:r>
              <a:rPr lang="en-US" sz="2200" dirty="0" err="1"/>
              <a:t>ti</a:t>
            </a:r>
            <a:r>
              <a:rPr lang="en-US" sz="2200" dirty="0"/>
              <a:t>/ab] OR </a:t>
            </a:r>
            <a:r>
              <a:rPr lang="en-US" sz="2200" dirty="0" err="1"/>
              <a:t>neoplas</a:t>
            </a:r>
            <a:r>
              <a:rPr lang="en-US" sz="2200" dirty="0"/>
              <a:t>*[</a:t>
            </a:r>
            <a:r>
              <a:rPr lang="en-US" sz="2200" dirty="0" err="1"/>
              <a:t>ti</a:t>
            </a:r>
            <a:r>
              <a:rPr lang="en-US" sz="2200" dirty="0"/>
              <a:t>/ab] OR adenocarcinoma*[</a:t>
            </a:r>
            <a:r>
              <a:rPr lang="en-US" sz="2200" dirty="0" err="1"/>
              <a:t>ti</a:t>
            </a:r>
            <a:r>
              <a:rPr lang="en-US" sz="2200" dirty="0"/>
              <a:t>/ab] OR tumor*[</a:t>
            </a:r>
            <a:r>
              <a:rPr lang="en-US" sz="2200" dirty="0" err="1"/>
              <a:t>ti</a:t>
            </a:r>
            <a:r>
              <a:rPr lang="en-US" sz="2200" dirty="0"/>
              <a:t>/ab] OR </a:t>
            </a:r>
            <a:r>
              <a:rPr lang="en-US" sz="2200" dirty="0" err="1"/>
              <a:t>tumour</a:t>
            </a:r>
            <a:r>
              <a:rPr lang="en-US" sz="2200" dirty="0"/>
              <a:t>*[</a:t>
            </a:r>
            <a:r>
              <a:rPr lang="en-US" sz="2200" dirty="0" err="1"/>
              <a:t>ti</a:t>
            </a:r>
            <a:r>
              <a:rPr lang="en-US" sz="2200" dirty="0"/>
              <a:t>/ab])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  AND (</a:t>
            </a:r>
            <a:r>
              <a:rPr lang="en-US" sz="2200" dirty="0" err="1"/>
              <a:t>sensitiv</a:t>
            </a:r>
            <a:r>
              <a:rPr lang="en-US" sz="2200" dirty="0"/>
              <a:t>* OR </a:t>
            </a:r>
            <a:r>
              <a:rPr lang="en-US" sz="2200" dirty="0" err="1"/>
              <a:t>accura</a:t>
            </a:r>
            <a:r>
              <a:rPr lang="en-US" sz="2200" dirty="0"/>
              <a:t>* OR </a:t>
            </a:r>
            <a:r>
              <a:rPr lang="en-US" sz="2200" dirty="0" err="1"/>
              <a:t>positiv</a:t>
            </a:r>
            <a:r>
              <a:rPr lang="en-US" sz="2200" dirty="0"/>
              <a:t>* OR detect* OR miss* OR </a:t>
            </a:r>
            <a:r>
              <a:rPr lang="en-US" sz="2200" dirty="0" err="1"/>
              <a:t>specifi</a:t>
            </a:r>
            <a:r>
              <a:rPr lang="en-US" sz="2200" dirty="0"/>
              <a:t>*)</a:t>
            </a:r>
          </a:p>
        </p:txBody>
      </p:sp>
      <p:sp>
        <p:nvSpPr>
          <p:cNvPr id="4" name="Geschweifte Klammer rechts 3"/>
          <p:cNvSpPr/>
          <p:nvPr/>
        </p:nvSpPr>
        <p:spPr>
          <a:xfrm>
            <a:off x="7010400" y="2828925"/>
            <a:ext cx="123825" cy="609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Geschweifte Klammer rechts 5"/>
          <p:cNvSpPr/>
          <p:nvPr/>
        </p:nvSpPr>
        <p:spPr>
          <a:xfrm>
            <a:off x="7696200" y="3638550"/>
            <a:ext cx="104775" cy="17335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Geschweifte Klammer rechts 6"/>
          <p:cNvSpPr/>
          <p:nvPr/>
        </p:nvSpPr>
        <p:spPr>
          <a:xfrm>
            <a:off x="7424737" y="5699125"/>
            <a:ext cx="123825" cy="609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7266662" y="2949059"/>
            <a:ext cx="1068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Stool</a:t>
            </a:r>
            <a:r>
              <a:rPr lang="de-DE" dirty="0"/>
              <a:t> </a:t>
            </a:r>
            <a:r>
              <a:rPr lang="de-DE" dirty="0" err="1"/>
              <a:t>test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7876262" y="4182158"/>
            <a:ext cx="1132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Colorectal</a:t>
            </a:r>
            <a:endParaRPr lang="de-DE" dirty="0"/>
          </a:p>
          <a:p>
            <a:r>
              <a:rPr lang="de-DE" dirty="0" err="1"/>
              <a:t>cancer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7696200" y="5662394"/>
            <a:ext cx="1158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Diagnostic</a:t>
            </a:r>
            <a:endParaRPr lang="de-DE" dirty="0"/>
          </a:p>
          <a:p>
            <a:r>
              <a:rPr lang="de-DE" dirty="0" err="1"/>
              <a:t>accuracy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16</a:t>
            </a:fld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0540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Search </a:t>
            </a:r>
            <a:r>
              <a:rPr lang="de-DE" dirty="0" err="1"/>
              <a:t>strategy</a:t>
            </a:r>
            <a:r>
              <a:rPr lang="de-DE" dirty="0"/>
              <a:t> – </a:t>
            </a:r>
            <a:r>
              <a:rPr lang="de-DE" dirty="0" err="1"/>
              <a:t>example</a:t>
            </a:r>
            <a:r>
              <a:rPr lang="de-DE" dirty="0"/>
              <a:t> in </a:t>
            </a:r>
            <a:r>
              <a:rPr lang="de-DE" dirty="0" err="1"/>
              <a:t>PubMed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Web </a:t>
            </a:r>
            <a:r>
              <a:rPr lang="de-DE" dirty="0" err="1"/>
              <a:t>of</a:t>
            </a:r>
            <a:r>
              <a:rPr lang="de-DE" dirty="0"/>
              <a:t> Science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Web </a:t>
            </a:r>
            <a:r>
              <a:rPr lang="de-DE" dirty="0" err="1"/>
              <a:t>of</a:t>
            </a:r>
            <a:r>
              <a:rPr lang="de-DE" dirty="0"/>
              <a:t> Science:</a:t>
            </a:r>
          </a:p>
          <a:p>
            <a:pPr marL="0" indent="0">
              <a:buNone/>
            </a:pPr>
            <a:r>
              <a:rPr lang="en-US" sz="2200" dirty="0"/>
              <a:t>TS=((FIT OR </a:t>
            </a:r>
            <a:r>
              <a:rPr lang="en-US" sz="2200" dirty="0" err="1"/>
              <a:t>iFOBT</a:t>
            </a:r>
            <a:r>
              <a:rPr lang="en-US" sz="2200" dirty="0"/>
              <a:t> OR FOBT OR stool OR fecal OR </a:t>
            </a:r>
            <a:r>
              <a:rPr lang="en-US" sz="2200" dirty="0" err="1"/>
              <a:t>faecal</a:t>
            </a:r>
            <a:r>
              <a:rPr lang="en-US" sz="2200" dirty="0"/>
              <a:t> OR occult)</a:t>
            </a:r>
            <a:endParaRPr lang="de-DE" sz="2200" dirty="0"/>
          </a:p>
          <a:p>
            <a:pPr marL="0" indent="0">
              <a:buNone/>
            </a:pPr>
            <a:r>
              <a:rPr lang="en-US" sz="2200" dirty="0"/>
              <a:t> AND (CRC OR </a:t>
            </a:r>
            <a:r>
              <a:rPr lang="en-US" sz="2200" dirty="0" err="1"/>
              <a:t>colorect</a:t>
            </a:r>
            <a:r>
              <a:rPr lang="en-US" sz="2200" dirty="0"/>
              <a:t>* OR rectal OR rectum OR colon OR colonic OR bowel)</a:t>
            </a:r>
            <a:endParaRPr lang="de-DE" sz="2200" dirty="0"/>
          </a:p>
          <a:p>
            <a:pPr marL="0" indent="0">
              <a:buNone/>
            </a:pPr>
            <a:r>
              <a:rPr lang="en-US" sz="2200" dirty="0"/>
              <a:t> AND (carcinoma* OR cancer OR cancers OR cancerous OR </a:t>
            </a:r>
            <a:r>
              <a:rPr lang="en-US" sz="2200" dirty="0" err="1"/>
              <a:t>neoplas</a:t>
            </a:r>
            <a:r>
              <a:rPr lang="en-US" sz="2200" dirty="0"/>
              <a:t>* OR adenocarcinoma* OR tumor* OR </a:t>
            </a:r>
            <a:r>
              <a:rPr lang="en-US" sz="2200" dirty="0" err="1"/>
              <a:t>tumour</a:t>
            </a:r>
            <a:r>
              <a:rPr lang="en-US" sz="2200" dirty="0"/>
              <a:t>*)</a:t>
            </a:r>
            <a:endParaRPr lang="de-DE" sz="2200" dirty="0"/>
          </a:p>
          <a:p>
            <a:pPr marL="0" indent="0">
              <a:buNone/>
            </a:pPr>
            <a:r>
              <a:rPr lang="en-US" sz="2200" dirty="0"/>
              <a:t> AND (</a:t>
            </a:r>
            <a:r>
              <a:rPr lang="en-US" sz="2200" dirty="0" err="1"/>
              <a:t>sensitiv</a:t>
            </a:r>
            <a:r>
              <a:rPr lang="en-US" sz="2200" dirty="0"/>
              <a:t>* OR </a:t>
            </a:r>
            <a:r>
              <a:rPr lang="en-US" sz="2200" dirty="0" err="1"/>
              <a:t>accura</a:t>
            </a:r>
            <a:r>
              <a:rPr lang="en-US" sz="2200" dirty="0"/>
              <a:t>* OR </a:t>
            </a:r>
            <a:r>
              <a:rPr lang="en-US" sz="2200" dirty="0" err="1"/>
              <a:t>positiv</a:t>
            </a:r>
            <a:r>
              <a:rPr lang="en-US" sz="2200" dirty="0"/>
              <a:t>* OR detect* OR miss* OR </a:t>
            </a:r>
            <a:r>
              <a:rPr lang="en-US" sz="2200" dirty="0" err="1"/>
              <a:t>specifi</a:t>
            </a:r>
            <a:r>
              <a:rPr lang="en-US" sz="2200" dirty="0"/>
              <a:t>*)</a:t>
            </a:r>
            <a:endParaRPr lang="de-DE" sz="2200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2519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Search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Find terms that should appear in all relevant studies, combine them with “AND”</a:t>
            </a:r>
          </a:p>
          <a:p>
            <a:r>
              <a:rPr lang="en-US" sz="2400" dirty="0"/>
              <a:t>Find synonyms of terms and combine them with “OR”</a:t>
            </a:r>
          </a:p>
          <a:p>
            <a:r>
              <a:rPr lang="en-US" sz="2400" dirty="0"/>
              <a:t>Once you specified the search terms, organize your search:</a:t>
            </a:r>
          </a:p>
          <a:p>
            <a:pPr lvl="1"/>
            <a:r>
              <a:rPr lang="en-US" dirty="0"/>
              <a:t>Remove duplicate articles</a:t>
            </a:r>
          </a:p>
          <a:p>
            <a:pPr lvl="1"/>
            <a:r>
              <a:rPr lang="en-US" dirty="0"/>
              <a:t>Keep track of excluded studies and “stage” of exclusion (after screening title and/or abstract vs. after full-text screening)</a:t>
            </a:r>
          </a:p>
          <a:p>
            <a:pPr lvl="1"/>
            <a:r>
              <a:rPr lang="en-US" dirty="0"/>
              <a:t>Keep track of reasons for excluding studies read in full-text</a:t>
            </a:r>
          </a:p>
          <a:p>
            <a:pPr lvl="1"/>
            <a:r>
              <a:rPr lang="en-US" dirty="0"/>
              <a:t>Recommended: Use EndNote or Reference Manager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2763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16200000">
            <a:off x="-1403350" y="2799557"/>
            <a:ext cx="5195889" cy="1325563"/>
          </a:xfrm>
        </p:spPr>
        <p:txBody>
          <a:bodyPr/>
          <a:lstStyle/>
          <a:p>
            <a:r>
              <a:rPr lang="de-DE" dirty="0"/>
              <a:t>PRISMA Flow </a:t>
            </a:r>
            <a:r>
              <a:rPr lang="de-DE" dirty="0" err="1"/>
              <a:t>Diagram</a:t>
            </a:r>
            <a:endParaRPr lang="de-DE" dirty="0"/>
          </a:p>
        </p:txBody>
      </p:sp>
      <p:sp>
        <p:nvSpPr>
          <p:cNvPr id="27" name="Rectangle 55"/>
          <p:cNvSpPr>
            <a:spLocks noChangeArrowheads="1"/>
          </p:cNvSpPr>
          <p:nvPr/>
        </p:nvSpPr>
        <p:spPr bwMode="auto">
          <a:xfrm>
            <a:off x="3086100" y="547689"/>
            <a:ext cx="2228850" cy="6826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Records identified through database searching</a:t>
            </a:r>
            <a:b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(n =   )</a:t>
            </a: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AutoShape 57"/>
          <p:cNvSpPr>
            <a:spLocks noChangeArrowheads="1"/>
          </p:cNvSpPr>
          <p:nvPr/>
        </p:nvSpPr>
        <p:spPr bwMode="auto">
          <a:xfrm rot="16200000">
            <a:off x="1748631" y="2458245"/>
            <a:ext cx="1371600" cy="296862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Screening</a:t>
            </a:r>
            <a:endParaRPr kumimoji="0" lang="en-CA" altLang="de-DE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AutoShape 37"/>
          <p:cNvSpPr>
            <a:spLocks noChangeArrowheads="1"/>
          </p:cNvSpPr>
          <p:nvPr/>
        </p:nvSpPr>
        <p:spPr bwMode="auto">
          <a:xfrm rot="16200000">
            <a:off x="1748631" y="5658645"/>
            <a:ext cx="1371600" cy="296862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Included</a:t>
            </a:r>
            <a:endParaRPr kumimoji="0" lang="en-CA" altLang="de-DE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AutoShape 56"/>
          <p:cNvSpPr>
            <a:spLocks noChangeArrowheads="1"/>
          </p:cNvSpPr>
          <p:nvPr/>
        </p:nvSpPr>
        <p:spPr bwMode="auto">
          <a:xfrm rot="16200000">
            <a:off x="1748631" y="4058445"/>
            <a:ext cx="1371600" cy="296862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Eligibility</a:t>
            </a:r>
            <a:endParaRPr kumimoji="0" lang="en-CA" altLang="de-DE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54"/>
          <p:cNvSpPr>
            <a:spLocks noChangeShapeType="1"/>
          </p:cNvSpPr>
          <p:nvPr/>
        </p:nvSpPr>
        <p:spPr bwMode="auto">
          <a:xfrm>
            <a:off x="4343400" y="1233489"/>
            <a:ext cx="0" cy="4572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2" name="AutoShape 53"/>
          <p:cNvSpPr>
            <a:spLocks noChangeShapeType="1"/>
          </p:cNvSpPr>
          <p:nvPr/>
        </p:nvSpPr>
        <p:spPr bwMode="auto">
          <a:xfrm>
            <a:off x="6629400" y="1233489"/>
            <a:ext cx="0" cy="4572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3" name="AutoShape 38"/>
          <p:cNvSpPr>
            <a:spLocks noChangeArrowheads="1"/>
          </p:cNvSpPr>
          <p:nvPr/>
        </p:nvSpPr>
        <p:spPr bwMode="auto">
          <a:xfrm rot="16200000">
            <a:off x="1748631" y="858045"/>
            <a:ext cx="1371600" cy="296862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Identification</a:t>
            </a:r>
            <a:endParaRPr kumimoji="0" lang="en-CA" altLang="de-DE" sz="1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52"/>
          <p:cNvSpPr>
            <a:spLocks noChangeArrowheads="1"/>
          </p:cNvSpPr>
          <p:nvPr/>
        </p:nvSpPr>
        <p:spPr bwMode="auto">
          <a:xfrm>
            <a:off x="5657850" y="547689"/>
            <a:ext cx="22288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Additional records identified through other sources</a:t>
            </a:r>
            <a:b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(n =   )</a:t>
            </a: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51"/>
          <p:cNvSpPr>
            <a:spLocks noChangeArrowheads="1"/>
          </p:cNvSpPr>
          <p:nvPr/>
        </p:nvSpPr>
        <p:spPr bwMode="auto">
          <a:xfrm>
            <a:off x="4100513" y="1690689"/>
            <a:ext cx="27717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Records after duplicates removed</a:t>
            </a:r>
            <a:b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(n =   )</a:t>
            </a: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50"/>
          <p:cNvSpPr>
            <a:spLocks noChangeArrowheads="1"/>
          </p:cNvSpPr>
          <p:nvPr/>
        </p:nvSpPr>
        <p:spPr bwMode="auto">
          <a:xfrm>
            <a:off x="4651375" y="2719389"/>
            <a:ext cx="16700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Records screened</a:t>
            </a:r>
            <a:b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(n =   )</a:t>
            </a: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49"/>
          <p:cNvSpPr>
            <a:spLocks noChangeArrowheads="1"/>
          </p:cNvSpPr>
          <p:nvPr/>
        </p:nvSpPr>
        <p:spPr bwMode="auto">
          <a:xfrm>
            <a:off x="6972300" y="2719389"/>
            <a:ext cx="1714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Records excluded</a:t>
            </a:r>
            <a:b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(n =   )</a:t>
            </a: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48"/>
          <p:cNvSpPr>
            <a:spLocks noChangeArrowheads="1"/>
          </p:cNvSpPr>
          <p:nvPr/>
        </p:nvSpPr>
        <p:spPr bwMode="auto">
          <a:xfrm>
            <a:off x="4629150" y="3633789"/>
            <a:ext cx="1714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Full-text articles assessed for eligibility</a:t>
            </a:r>
            <a:b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(n =   )</a:t>
            </a: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47"/>
          <p:cNvSpPr>
            <a:spLocks noChangeArrowheads="1"/>
          </p:cNvSpPr>
          <p:nvPr/>
        </p:nvSpPr>
        <p:spPr bwMode="auto">
          <a:xfrm>
            <a:off x="6972300" y="3633789"/>
            <a:ext cx="1714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de-DE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Full-text articles excluded, with reasons</a:t>
            </a:r>
            <a:br>
              <a:rPr kumimoji="0" lang="en-CA" altLang="de-DE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CA" altLang="de-DE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(n =   )</a:t>
            </a:r>
            <a:endParaRPr kumimoji="0" lang="en-CA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6"/>
          <p:cNvSpPr>
            <a:spLocks noChangeArrowheads="1"/>
          </p:cNvSpPr>
          <p:nvPr/>
        </p:nvSpPr>
        <p:spPr bwMode="auto">
          <a:xfrm>
            <a:off x="4629150" y="4662489"/>
            <a:ext cx="1714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Studies included in qualitative synthesis</a:t>
            </a:r>
            <a:b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(n =   )</a:t>
            </a: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45"/>
          <p:cNvSpPr>
            <a:spLocks noChangeArrowheads="1"/>
          </p:cNvSpPr>
          <p:nvPr/>
        </p:nvSpPr>
        <p:spPr bwMode="auto">
          <a:xfrm>
            <a:off x="4629150" y="5691189"/>
            <a:ext cx="1714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Studies included in quantitative synthesis (meta-analysis)</a:t>
            </a:r>
            <a:b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kumimoji="0" lang="en-CA" altLang="de-DE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(n =   )</a:t>
            </a:r>
            <a:endParaRPr kumimoji="0" lang="en-CA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AutoShape 44"/>
          <p:cNvSpPr>
            <a:spLocks noChangeShapeType="1"/>
          </p:cNvSpPr>
          <p:nvPr/>
        </p:nvSpPr>
        <p:spPr bwMode="auto">
          <a:xfrm>
            <a:off x="5486400" y="2262189"/>
            <a:ext cx="0" cy="4572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3" name="AutoShape 43"/>
          <p:cNvSpPr>
            <a:spLocks noChangeShapeType="1"/>
          </p:cNvSpPr>
          <p:nvPr/>
        </p:nvSpPr>
        <p:spPr bwMode="auto">
          <a:xfrm>
            <a:off x="5486400" y="3290889"/>
            <a:ext cx="0" cy="3429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4" name="AutoShape 42"/>
          <p:cNvSpPr>
            <a:spLocks noChangeShapeType="1"/>
          </p:cNvSpPr>
          <p:nvPr/>
        </p:nvSpPr>
        <p:spPr bwMode="auto">
          <a:xfrm>
            <a:off x="5486400" y="4319589"/>
            <a:ext cx="0" cy="3429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5" name="AutoShape 41"/>
          <p:cNvSpPr>
            <a:spLocks noChangeShapeType="1"/>
          </p:cNvSpPr>
          <p:nvPr/>
        </p:nvSpPr>
        <p:spPr bwMode="auto">
          <a:xfrm>
            <a:off x="5486400" y="5348289"/>
            <a:ext cx="0" cy="3429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6" name="AutoShape 40"/>
          <p:cNvSpPr>
            <a:spLocks noChangeShapeType="1"/>
          </p:cNvSpPr>
          <p:nvPr/>
        </p:nvSpPr>
        <p:spPr bwMode="auto">
          <a:xfrm>
            <a:off x="6321425" y="3005139"/>
            <a:ext cx="65087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7" name="AutoShape 39"/>
          <p:cNvSpPr>
            <a:spLocks noChangeShapeType="1"/>
          </p:cNvSpPr>
          <p:nvPr/>
        </p:nvSpPr>
        <p:spPr bwMode="auto">
          <a:xfrm>
            <a:off x="6343650" y="3976689"/>
            <a:ext cx="62865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8" name="Rectangle 58"/>
          <p:cNvSpPr>
            <a:spLocks noChangeArrowheads="1"/>
          </p:cNvSpPr>
          <p:nvPr/>
        </p:nvSpPr>
        <p:spPr bwMode="auto">
          <a:xfrm>
            <a:off x="3000375" y="-72072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9764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 </a:t>
            </a:r>
            <a:r>
              <a:rPr lang="de-DE" dirty="0" err="1"/>
              <a:t>ideas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meta-analysis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Check </a:t>
            </a:r>
            <a:r>
              <a:rPr lang="de-DE" dirty="0" err="1"/>
              <a:t>if</a:t>
            </a:r>
            <a:r>
              <a:rPr lang="de-DE" dirty="0"/>
              <a:t> a meta-analysis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makes</a:t>
            </a:r>
            <a:r>
              <a:rPr lang="de-DE" dirty="0"/>
              <a:t> sense. Counter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r>
              <a:rPr lang="de-DE" dirty="0"/>
              <a:t> (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Similarly</a:t>
            </a:r>
            <a:r>
              <a:rPr lang="de-DE" dirty="0"/>
              <a:t>: </a:t>
            </a:r>
            <a:r>
              <a:rPr lang="de-DE" dirty="0" err="1"/>
              <a:t>inconsistency</a:t>
            </a:r>
            <a:r>
              <a:rPr lang="de-DE" dirty="0"/>
              <a:t> </a:t>
            </a:r>
            <a:r>
              <a:rPr lang="de-DE" dirty="0" err="1"/>
              <a:t>regarding</a:t>
            </a:r>
            <a:r>
              <a:rPr lang="de-DE" dirty="0"/>
              <a:t> </a:t>
            </a:r>
            <a:r>
              <a:rPr lang="de-DE" dirty="0" err="1"/>
              <a:t>exposure</a:t>
            </a:r>
            <a:r>
              <a:rPr lang="de-DE" dirty="0"/>
              <a:t> and/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outcome</a:t>
            </a:r>
            <a:r>
              <a:rPr lang="de-DE" dirty="0"/>
              <a:t> </a:t>
            </a:r>
            <a:r>
              <a:rPr lang="de-DE" dirty="0" err="1"/>
              <a:t>definitions</a:t>
            </a:r>
            <a:r>
              <a:rPr lang="de-DE" dirty="0"/>
              <a:t> / lack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comparability</a:t>
            </a:r>
            <a:endParaRPr lang="de-DE" dirty="0"/>
          </a:p>
          <a:p>
            <a:r>
              <a:rPr lang="de-DE" dirty="0" err="1"/>
              <a:t>Extract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sizes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measures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precision</a:t>
            </a:r>
            <a:r>
              <a:rPr lang="de-DE" dirty="0"/>
              <a:t> (</a:t>
            </a:r>
            <a:r>
              <a:rPr lang="de-DE" dirty="0" err="1"/>
              <a:t>variance</a:t>
            </a:r>
            <a:r>
              <a:rPr lang="de-DE" dirty="0"/>
              <a:t>)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study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7174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naïve pooling is not reasonable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Pooling </a:t>
            </a:r>
            <a:r>
              <a:rPr lang="en-US" dirty="0"/>
              <a:t>can generate an effect where one </a:t>
            </a:r>
          </a:p>
          <a:p>
            <a:pPr marL="0" indent="0">
              <a:buNone/>
            </a:pPr>
            <a:r>
              <a:rPr lang="en-US" dirty="0"/>
              <a:t>does not actually exist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037" y="2226970"/>
            <a:ext cx="4448925" cy="4423360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>
          <a:xfrm>
            <a:off x="628650" y="4545747"/>
            <a:ext cx="313372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(</a:t>
            </a:r>
            <a:r>
              <a:rPr lang="en-US" sz="2000" dirty="0" err="1"/>
              <a:t>Bravata</a:t>
            </a:r>
            <a:r>
              <a:rPr lang="en-US" sz="2000" dirty="0"/>
              <a:t> DM, </a:t>
            </a:r>
            <a:r>
              <a:rPr lang="en-US" sz="2000" dirty="0" err="1"/>
              <a:t>Olkin</a:t>
            </a:r>
            <a:r>
              <a:rPr lang="en-US" sz="2000" dirty="0"/>
              <a:t> I, </a:t>
            </a:r>
          </a:p>
          <a:p>
            <a:r>
              <a:rPr lang="en-US" sz="2000" dirty="0"/>
              <a:t>Simple pooling versus </a:t>
            </a:r>
          </a:p>
          <a:p>
            <a:r>
              <a:rPr lang="en-US" sz="2000" dirty="0"/>
              <a:t>combining in </a:t>
            </a:r>
          </a:p>
          <a:p>
            <a:r>
              <a:rPr lang="en-US" sz="2000" dirty="0"/>
              <a:t>meta-analysis, </a:t>
            </a:r>
          </a:p>
          <a:p>
            <a:r>
              <a:rPr lang="en-US" sz="2000" dirty="0" err="1"/>
              <a:t>Eval</a:t>
            </a:r>
            <a:r>
              <a:rPr lang="en-US" sz="2000" dirty="0"/>
              <a:t> Health Prof (2001))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354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naïve pooling is not reasonable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Pooling </a:t>
            </a:r>
            <a:r>
              <a:rPr lang="en-US" dirty="0"/>
              <a:t>can obscure effects that </a:t>
            </a:r>
          </a:p>
          <a:p>
            <a:pPr marL="0" indent="0">
              <a:buNone/>
            </a:pPr>
            <a:r>
              <a:rPr lang="en-US" dirty="0"/>
              <a:t>do exist within the subgroups</a:t>
            </a:r>
            <a:endParaRPr lang="de-DE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Further reading:</a:t>
            </a:r>
          </a:p>
          <a:p>
            <a:pPr marL="0" indent="0">
              <a:buNone/>
            </a:pPr>
            <a:r>
              <a:rPr lang="en-US" b="1" dirty="0"/>
              <a:t>Simpson’s paradox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425" y="3142933"/>
            <a:ext cx="4448925" cy="2572383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628650" y="4545747"/>
            <a:ext cx="313372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(</a:t>
            </a:r>
            <a:r>
              <a:rPr lang="en-US" sz="2000" dirty="0" err="1"/>
              <a:t>Bravata</a:t>
            </a:r>
            <a:r>
              <a:rPr lang="en-US" sz="2000" dirty="0"/>
              <a:t> DM, </a:t>
            </a:r>
            <a:r>
              <a:rPr lang="en-US" sz="2000" dirty="0" err="1"/>
              <a:t>Olkin</a:t>
            </a:r>
            <a:r>
              <a:rPr lang="en-US" sz="2000" dirty="0"/>
              <a:t> I, </a:t>
            </a:r>
          </a:p>
          <a:p>
            <a:r>
              <a:rPr lang="en-US" sz="2000" dirty="0"/>
              <a:t>Simple pooling versus </a:t>
            </a:r>
          </a:p>
          <a:p>
            <a:r>
              <a:rPr lang="en-US" sz="2000" dirty="0"/>
              <a:t>combining in </a:t>
            </a:r>
          </a:p>
          <a:p>
            <a:r>
              <a:rPr lang="en-US" sz="2000" dirty="0"/>
              <a:t>meta-analysis, </a:t>
            </a:r>
          </a:p>
          <a:p>
            <a:r>
              <a:rPr lang="en-US" sz="2000" dirty="0" err="1"/>
              <a:t>Eval</a:t>
            </a:r>
            <a:r>
              <a:rPr lang="en-US" sz="2000" dirty="0"/>
              <a:t> Health Prof (2001))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22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4826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naïve pooling is not reasonable</a:t>
            </a:r>
            <a:endParaRPr lang="de-DE" dirty="0"/>
          </a:p>
        </p:txBody>
      </p:sp>
      <p:pic>
        <p:nvPicPr>
          <p:cNvPr id="8" name="Inhaltsplatzhalt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300" y="1901031"/>
            <a:ext cx="7391400" cy="4200525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23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7810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measures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Wide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possible</a:t>
            </a:r>
            <a:r>
              <a:rPr lang="de-DE" dirty="0"/>
              <a:t> </a:t>
            </a:r>
            <a:r>
              <a:rPr lang="de-DE" dirty="0" err="1"/>
              <a:t>measures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, e.g.:</a:t>
            </a:r>
          </a:p>
          <a:p>
            <a:pPr lvl="1"/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binary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:</a:t>
            </a:r>
          </a:p>
          <a:p>
            <a:pPr lvl="2"/>
            <a:r>
              <a:rPr lang="de-DE" dirty="0"/>
              <a:t>RD (</a:t>
            </a:r>
            <a:r>
              <a:rPr lang="de-DE" dirty="0" err="1"/>
              <a:t>risk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RR (relative </a:t>
            </a:r>
            <a:r>
              <a:rPr lang="de-DE" dirty="0" err="1"/>
              <a:t>risk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OR (</a:t>
            </a:r>
            <a:r>
              <a:rPr lang="de-DE" dirty="0" err="1"/>
              <a:t>odds</a:t>
            </a:r>
            <a:r>
              <a:rPr lang="de-DE" dirty="0"/>
              <a:t> </a:t>
            </a:r>
            <a:r>
              <a:rPr lang="de-DE" dirty="0" err="1"/>
              <a:t>ratio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:</a:t>
            </a:r>
          </a:p>
          <a:p>
            <a:pPr lvl="2"/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difference</a:t>
            </a:r>
            <a:endParaRPr lang="de-DE" dirty="0"/>
          </a:p>
          <a:p>
            <a:pPr lvl="2"/>
            <a:r>
              <a:rPr lang="de-DE" dirty="0" err="1"/>
              <a:t>Standardized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difference</a:t>
            </a:r>
            <a:endParaRPr lang="de-DE" dirty="0"/>
          </a:p>
          <a:p>
            <a:pPr lvl="2"/>
            <a:r>
              <a:rPr lang="de-DE" dirty="0"/>
              <a:t>Change in </a:t>
            </a:r>
            <a:r>
              <a:rPr lang="de-DE" dirty="0" err="1"/>
              <a:t>scores</a:t>
            </a:r>
            <a:endParaRPr lang="de-DE" dirty="0"/>
          </a:p>
          <a:p>
            <a:pPr lvl="1"/>
            <a:r>
              <a:rPr lang="de-DE" dirty="0"/>
              <a:t>Time-</a:t>
            </a:r>
            <a:r>
              <a:rPr lang="de-DE" dirty="0" err="1"/>
              <a:t>to</a:t>
            </a:r>
            <a:r>
              <a:rPr lang="de-DE" dirty="0"/>
              <a:t>-event </a:t>
            </a:r>
            <a:r>
              <a:rPr lang="de-DE" dirty="0" err="1"/>
              <a:t>data</a:t>
            </a:r>
            <a:r>
              <a:rPr lang="de-DE" dirty="0"/>
              <a:t>:</a:t>
            </a:r>
          </a:p>
          <a:p>
            <a:pPr lvl="2"/>
            <a:r>
              <a:rPr lang="de-DE" dirty="0"/>
              <a:t>(log) HR (</a:t>
            </a:r>
            <a:r>
              <a:rPr lang="de-DE" dirty="0" err="1"/>
              <a:t>hazard</a:t>
            </a:r>
            <a:r>
              <a:rPr lang="de-DE" dirty="0"/>
              <a:t> </a:t>
            </a:r>
            <a:r>
              <a:rPr lang="de-DE" dirty="0" err="1"/>
              <a:t>ratio</a:t>
            </a:r>
            <a:r>
              <a:rPr lang="de-DE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4852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in meta-analysis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Fixed-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random-effects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r>
              <a:rPr lang="de-DE" dirty="0"/>
              <a:t>Statistical </a:t>
            </a:r>
            <a:r>
              <a:rPr lang="de-DE" dirty="0" err="1"/>
              <a:t>heterogeneity</a:t>
            </a:r>
            <a:endParaRPr lang="de-DE" dirty="0"/>
          </a:p>
          <a:p>
            <a:r>
              <a:rPr lang="de-DE" dirty="0" err="1"/>
              <a:t>Publication</a:t>
            </a:r>
            <a:r>
              <a:rPr lang="de-DE" dirty="0"/>
              <a:t> </a:t>
            </a:r>
            <a:r>
              <a:rPr lang="de-DE" dirty="0" err="1"/>
              <a:t>bias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5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Fixed-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FE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assume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true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among</a:t>
            </a:r>
            <a:r>
              <a:rPr lang="de-DE" dirty="0"/>
              <a:t> all </a:t>
            </a:r>
            <a:r>
              <a:rPr lang="de-DE" dirty="0" err="1"/>
              <a:t>studies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observed</a:t>
            </a:r>
            <a:r>
              <a:rPr lang="de-DE" dirty="0"/>
              <a:t> </a:t>
            </a:r>
            <a:r>
              <a:rPr lang="de-DE" dirty="0" err="1"/>
              <a:t>estimates</a:t>
            </a:r>
            <a:r>
              <a:rPr lang="de-DE" dirty="0"/>
              <a:t> </a:t>
            </a:r>
            <a:r>
              <a:rPr lang="de-DE" dirty="0" err="1"/>
              <a:t>among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individual </a:t>
            </a:r>
            <a:r>
              <a:rPr lang="de-DE" dirty="0" err="1"/>
              <a:t>study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/>
          <a:srcRect t="4440"/>
          <a:stretch/>
        </p:blipFill>
        <p:spPr>
          <a:xfrm>
            <a:off x="1508474" y="3152775"/>
            <a:ext cx="6127051" cy="3195302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2022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Fixed-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3675" y="1825625"/>
            <a:ext cx="7616650" cy="4351338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8126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Fixed-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99" y="1690689"/>
            <a:ext cx="7300801" cy="4442344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28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5135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Random-</a:t>
            </a:r>
            <a:r>
              <a:rPr lang="de-DE" dirty="0" err="1"/>
              <a:t>effects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424" y="1690689"/>
            <a:ext cx="7490926" cy="4765078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29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0743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Random-</a:t>
            </a:r>
            <a:r>
              <a:rPr lang="de-DE" dirty="0" err="1"/>
              <a:t>effects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800100" y="1690689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“…we not only assume that effects of individual studies deviate from the true intervention effect of all studies due to sampling error, but that there is another source of </a:t>
            </a:r>
            <a:r>
              <a:rPr lang="en-US" b="1" dirty="0"/>
              <a:t>variance introduced</a:t>
            </a:r>
            <a:r>
              <a:rPr lang="en-US" dirty="0"/>
              <a:t> by the fact that the </a:t>
            </a:r>
            <a:r>
              <a:rPr lang="en-US" b="1" dirty="0"/>
              <a:t>studies do not stem from one single population</a:t>
            </a:r>
            <a:r>
              <a:rPr lang="en-US" dirty="0"/>
              <a:t>, but are drawn from a “universe” of populations.”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>
          <a:xfrm>
            <a:off x="5734050" y="1690689"/>
            <a:ext cx="30861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i="1" dirty="0" err="1"/>
              <a:t>Doing</a:t>
            </a:r>
            <a:r>
              <a:rPr lang="de-DE" i="1" dirty="0"/>
              <a:t> Meta-Analysis in R</a:t>
            </a:r>
          </a:p>
          <a:p>
            <a:r>
              <a:rPr lang="de-DE" i="1" dirty="0"/>
              <a:t>A Hands-on Guide</a:t>
            </a:r>
          </a:p>
          <a:p>
            <a:endParaRPr lang="de-DE" i="1" dirty="0"/>
          </a:p>
          <a:p>
            <a:r>
              <a:rPr lang="de-DE" dirty="0"/>
              <a:t>Mathias Harrer, </a:t>
            </a:r>
            <a:r>
              <a:rPr lang="de-DE" dirty="0" err="1"/>
              <a:t>M.Sc</a:t>
            </a:r>
            <a:r>
              <a:rPr lang="de-DE" dirty="0"/>
              <a:t>.</a:t>
            </a:r>
          </a:p>
          <a:p>
            <a:r>
              <a:rPr lang="de-DE" dirty="0"/>
              <a:t>Prof. Dr. </a:t>
            </a:r>
            <a:r>
              <a:rPr lang="de-DE" dirty="0" err="1"/>
              <a:t>Pim</a:t>
            </a:r>
            <a:r>
              <a:rPr lang="de-DE" dirty="0"/>
              <a:t> </a:t>
            </a:r>
            <a:r>
              <a:rPr lang="de-DE" dirty="0" err="1"/>
              <a:t>Cuijpers</a:t>
            </a:r>
            <a:endParaRPr lang="de-DE" dirty="0"/>
          </a:p>
          <a:p>
            <a:r>
              <a:rPr lang="de-DE" dirty="0"/>
              <a:t>Prof. Dr. </a:t>
            </a:r>
            <a:r>
              <a:rPr lang="de-DE" dirty="0" err="1"/>
              <a:t>Toshi</a:t>
            </a:r>
            <a:r>
              <a:rPr lang="de-DE" dirty="0"/>
              <a:t> A. </a:t>
            </a:r>
            <a:r>
              <a:rPr lang="de-DE" dirty="0" err="1"/>
              <a:t>Furukawa</a:t>
            </a:r>
            <a:endParaRPr lang="de-DE" dirty="0"/>
          </a:p>
          <a:p>
            <a:r>
              <a:rPr lang="de-DE" dirty="0" err="1"/>
              <a:t>Assoc</a:t>
            </a:r>
            <a:r>
              <a:rPr lang="de-DE" dirty="0"/>
              <a:t>. Prof. Dr. David D. Ebert</a:t>
            </a:r>
          </a:p>
        </p:txBody>
      </p:sp>
      <p:sp>
        <p:nvSpPr>
          <p:cNvPr id="9" name="Abgerundetes Rechteck 8"/>
          <p:cNvSpPr/>
          <p:nvPr/>
        </p:nvSpPr>
        <p:spPr>
          <a:xfrm>
            <a:off x="628650" y="1619250"/>
            <a:ext cx="4743450" cy="24955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/>
        </p:nvSpPr>
        <p:spPr>
          <a:xfrm>
            <a:off x="714375" y="4293194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random-effects-model pays </a:t>
            </a:r>
            <a:r>
              <a:rPr lang="en-US" b="1" dirty="0"/>
              <a:t>more attention to small studies</a:t>
            </a:r>
            <a:r>
              <a:rPr lang="en-US" dirty="0"/>
              <a:t> when pooling the overall effect in a meta-analysis </a:t>
            </a:r>
            <a:r>
              <a:rPr lang="de-DE" dirty="0"/>
              <a:t>(Schwarzer, Carpenter, </a:t>
            </a:r>
            <a:r>
              <a:rPr lang="de-DE" dirty="0" err="1"/>
              <a:t>and</a:t>
            </a:r>
            <a:r>
              <a:rPr lang="de-DE" dirty="0"/>
              <a:t> Rücker 2015)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smaller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commonly</a:t>
            </a:r>
            <a:r>
              <a:rPr lang="de-DE" dirty="0"/>
              <a:t> </a:t>
            </a:r>
            <a:r>
              <a:rPr lang="de-DE" dirty="0" err="1"/>
              <a:t>thought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prone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bias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 err="1"/>
              <a:t>Consider</a:t>
            </a:r>
            <a:r>
              <a:rPr lang="de-DE" dirty="0"/>
              <a:t> </a:t>
            </a:r>
            <a:r>
              <a:rPr lang="de-DE" dirty="0" err="1"/>
              <a:t>excluding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studies</a:t>
            </a:r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5886450" y="4445594"/>
            <a:ext cx="2781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 err="1">
                <a:sym typeface="Wingdings" panose="05000000000000000000" pitchFamily="2" charset="2"/>
              </a:rPr>
              <a:t>Differences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summary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estimates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expected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many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small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studies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included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and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results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those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studies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differ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from</a:t>
            </a:r>
            <a:r>
              <a:rPr lang="de-DE" dirty="0">
                <a:sym typeface="Wingdings" panose="05000000000000000000" pitchFamily="2" charset="2"/>
              </a:rPr>
              <a:t> large </a:t>
            </a:r>
            <a:r>
              <a:rPr lang="de-DE" dirty="0" err="1">
                <a:sym typeface="Wingdings" panose="05000000000000000000" pitchFamily="2" charset="2"/>
              </a:rPr>
              <a:t>studies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30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224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Random-</a:t>
            </a:r>
            <a:r>
              <a:rPr lang="de-DE" dirty="0" err="1"/>
              <a:t>effects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27621"/>
            <a:ext cx="7719076" cy="4850508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6122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Random-</a:t>
            </a:r>
            <a:r>
              <a:rPr lang="de-DE" dirty="0" err="1"/>
              <a:t>effects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499" y="2121841"/>
            <a:ext cx="7605001" cy="3758906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5271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Random-</a:t>
            </a:r>
            <a:r>
              <a:rPr lang="de-DE" dirty="0" err="1"/>
              <a:t>effects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87" y="1690689"/>
            <a:ext cx="7034626" cy="4280977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155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Should</a:t>
            </a:r>
            <a:r>
              <a:rPr lang="de-DE" dirty="0"/>
              <a:t> I </a:t>
            </a:r>
            <a:r>
              <a:rPr lang="de-DE" dirty="0" err="1"/>
              <a:t>take</a:t>
            </a:r>
            <a:r>
              <a:rPr lang="de-DE" dirty="0"/>
              <a:t> a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random-effects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Fixed-</a:t>
            </a:r>
            <a:r>
              <a:rPr lang="de-DE" dirty="0" err="1"/>
              <a:t>effects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appropriate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strong </a:t>
            </a:r>
            <a:r>
              <a:rPr lang="de-DE" dirty="0" err="1"/>
              <a:t>reasons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believe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included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en-US" dirty="0"/>
              <a:t>“</a:t>
            </a:r>
            <a:r>
              <a:rPr lang="de-DE" dirty="0" err="1"/>
              <a:t>functionally</a:t>
            </a:r>
            <a:r>
              <a:rPr lang="de-DE" dirty="0"/>
              <a:t> </a:t>
            </a:r>
            <a:r>
              <a:rPr lang="de-DE" dirty="0" err="1"/>
              <a:t>identical</a:t>
            </a:r>
            <a:r>
              <a:rPr lang="en-US" dirty="0"/>
              <a:t>”. Example: Drug trials within the same country</a:t>
            </a:r>
          </a:p>
          <a:p>
            <a:r>
              <a:rPr lang="en-US" dirty="0"/>
              <a:t>Random-effects models are the right choice if we cannot be sure that all studies are “</a:t>
            </a:r>
            <a:r>
              <a:rPr lang="de-DE" dirty="0" err="1"/>
              <a:t>functionally</a:t>
            </a:r>
            <a:r>
              <a:rPr lang="de-DE" dirty="0"/>
              <a:t> </a:t>
            </a:r>
            <a:r>
              <a:rPr lang="de-DE" dirty="0" err="1"/>
              <a:t>identical</a:t>
            </a:r>
            <a:r>
              <a:rPr lang="de-DE" dirty="0"/>
              <a:t>/</a:t>
            </a:r>
            <a:r>
              <a:rPr lang="de-DE" dirty="0" err="1"/>
              <a:t>equivalent</a:t>
            </a:r>
            <a:r>
              <a:rPr lang="en-US" dirty="0"/>
              <a:t>” (=in the majority of cases)</a:t>
            </a:r>
          </a:p>
          <a:p>
            <a:r>
              <a:rPr lang="en-US" dirty="0"/>
              <a:t>Exception: if very few studies </a:t>
            </a:r>
            <a:r>
              <a:rPr lang="en-US" dirty="0">
                <a:sym typeface="Wingdings" panose="05000000000000000000" pitchFamily="2" charset="2"/>
              </a:rPr>
              <a:t> better to use fixed effects if possible, otherwise Bayesian approach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Niedermaier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4754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Forest</a:t>
            </a:r>
            <a:r>
              <a:rPr lang="de-DE" dirty="0"/>
              <a:t> </a:t>
            </a:r>
            <a:r>
              <a:rPr lang="de-DE" dirty="0" err="1"/>
              <a:t>plot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 t="7077" r="10800" b="4925"/>
          <a:stretch/>
        </p:blipFill>
        <p:spPr>
          <a:xfrm>
            <a:off x="1181100" y="1518217"/>
            <a:ext cx="6572250" cy="5242152"/>
          </a:xfr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94560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Heterogeneity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Present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variation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true</a:t>
            </a:r>
            <a:r>
              <a:rPr lang="de-DE" dirty="0"/>
              <a:t> </a:t>
            </a:r>
            <a:r>
              <a:rPr lang="de-DE" dirty="0" err="1"/>
              <a:t>effects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underlying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expected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chance</a:t>
            </a:r>
            <a:endParaRPr lang="de-DE" dirty="0"/>
          </a:p>
          <a:p>
            <a:r>
              <a:rPr lang="de-DE" dirty="0"/>
              <a:t>May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caused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differences</a:t>
            </a:r>
            <a:r>
              <a:rPr lang="de-DE" dirty="0"/>
              <a:t> in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characteristics</a:t>
            </a:r>
            <a:r>
              <a:rPr lang="de-DE" dirty="0"/>
              <a:t> (</a:t>
            </a:r>
            <a:r>
              <a:rPr lang="de-DE" dirty="0" err="1"/>
              <a:t>participants</a:t>
            </a:r>
            <a:r>
              <a:rPr lang="de-DE" dirty="0"/>
              <a:t>, </a:t>
            </a:r>
            <a:r>
              <a:rPr lang="de-DE" dirty="0" err="1"/>
              <a:t>exposure</a:t>
            </a:r>
            <a:r>
              <a:rPr lang="de-DE" dirty="0"/>
              <a:t>, </a:t>
            </a:r>
            <a:r>
              <a:rPr lang="de-DE" dirty="0" err="1"/>
              <a:t>outcome</a:t>
            </a:r>
            <a:r>
              <a:rPr lang="de-DE" dirty="0"/>
              <a:t>)</a:t>
            </a:r>
          </a:p>
          <a:p>
            <a:r>
              <a:rPr lang="de-DE" dirty="0"/>
              <a:t>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in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(e.g. </a:t>
            </a:r>
            <a:r>
              <a:rPr lang="de-DE" dirty="0" err="1"/>
              <a:t>attrition</a:t>
            </a:r>
            <a:r>
              <a:rPr lang="de-DE" dirty="0"/>
              <a:t>, </a:t>
            </a:r>
            <a:r>
              <a:rPr lang="de-DE" dirty="0" err="1"/>
              <a:t>flawed</a:t>
            </a:r>
            <a:r>
              <a:rPr lang="de-DE" dirty="0"/>
              <a:t> design)</a:t>
            </a:r>
          </a:p>
          <a:p>
            <a:r>
              <a:rPr lang="de-DE" dirty="0"/>
              <a:t>Options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explore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Subgroup</a:t>
            </a:r>
            <a:r>
              <a:rPr lang="de-DE" dirty="0"/>
              <a:t> </a:t>
            </a:r>
            <a:r>
              <a:rPr lang="de-DE" dirty="0" err="1"/>
              <a:t>analyses</a:t>
            </a:r>
            <a:r>
              <a:rPr lang="de-DE" dirty="0"/>
              <a:t> (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discrete</a:t>
            </a:r>
            <a:r>
              <a:rPr lang="de-DE" dirty="0"/>
              <a:t> </a:t>
            </a:r>
            <a:r>
              <a:rPr lang="de-DE" dirty="0" err="1"/>
              <a:t>characteristics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Meta-regression (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discrete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characteristics</a:t>
            </a:r>
            <a:r>
              <a:rPr lang="de-DE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449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Heterogeneity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Measure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heterogeneity</a:t>
                </a:r>
                <a:r>
                  <a:rPr lang="de-DE" dirty="0"/>
                  <a:t>: </a:t>
                </a:r>
                <a:r>
                  <a:rPr lang="de-DE" dirty="0" err="1"/>
                  <a:t>Cochran‘s</a:t>
                </a:r>
                <a:r>
                  <a:rPr lang="de-DE" dirty="0"/>
                  <a:t> Q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  <a:p>
                <a:pPr lvl="1"/>
                <a:r>
                  <a:rPr lang="de-DE" dirty="0"/>
                  <a:t>Q = </a:t>
                </a:r>
                <a:r>
                  <a:rPr lang="de-DE" dirty="0" err="1"/>
                  <a:t>observed</a:t>
                </a:r>
                <a:r>
                  <a:rPr lang="de-DE" dirty="0"/>
                  <a:t> </a:t>
                </a:r>
                <a:r>
                  <a:rPr lang="de-DE" dirty="0" err="1"/>
                  <a:t>weighted</a:t>
                </a:r>
                <a:r>
                  <a:rPr lang="de-DE" dirty="0"/>
                  <a:t> </a:t>
                </a:r>
                <a:r>
                  <a:rPr lang="de-DE" dirty="0" err="1"/>
                  <a:t>sum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squares</a:t>
                </a:r>
                <a:endParaRPr lang="de-DE" dirty="0"/>
              </a:p>
              <a:p>
                <a:pPr lvl="1"/>
                <a:r>
                  <a:rPr lang="de-DE" dirty="0"/>
                  <a:t>P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:r>
                  <a:rPr lang="de-DE" dirty="0" err="1"/>
                  <a:t>calculated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-distribution, (k-1) </a:t>
                </a:r>
                <a:r>
                  <a:rPr lang="de-DE" dirty="0" err="1"/>
                  <a:t>degrees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freedom</a:t>
                </a:r>
                <a:r>
                  <a:rPr lang="de-DE" dirty="0"/>
                  <a:t> (k=</a:t>
                </a:r>
                <a:r>
                  <a:rPr lang="de-DE" dirty="0" err="1"/>
                  <a:t>number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studies</a:t>
                </a:r>
                <a:r>
                  <a:rPr lang="de-DE" dirty="0"/>
                  <a:t>)</a:t>
                </a:r>
              </a:p>
              <a:p>
                <a:pPr lvl="1"/>
                <a:r>
                  <a:rPr lang="de-DE" dirty="0" err="1"/>
                  <a:t>Only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p 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meaningful</a:t>
                </a:r>
                <a:r>
                  <a:rPr lang="de-DE" dirty="0"/>
                  <a:t>, not </a:t>
                </a:r>
                <a:r>
                  <a:rPr lang="de-DE" dirty="0" err="1"/>
                  <a:t>the</a:t>
                </a:r>
                <a:r>
                  <a:rPr lang="de-DE" dirty="0"/>
                  <a:t> absolute 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Q</a:t>
                </a:r>
              </a:p>
              <a:p>
                <a:pPr lvl="1"/>
                <a:r>
                  <a:rPr lang="de-DE" dirty="0" err="1"/>
                  <a:t>Relatively</a:t>
                </a:r>
                <a:r>
                  <a:rPr lang="de-DE" dirty="0"/>
                  <a:t> </a:t>
                </a:r>
                <a:r>
                  <a:rPr lang="de-DE" dirty="0" err="1"/>
                  <a:t>low</a:t>
                </a:r>
                <a:r>
                  <a:rPr lang="de-DE" dirty="0"/>
                  <a:t> power, </a:t>
                </a:r>
                <a:r>
                  <a:rPr lang="de-DE" dirty="0" err="1"/>
                  <a:t>thus</a:t>
                </a:r>
                <a:r>
                  <a:rPr lang="de-DE" dirty="0"/>
                  <a:t> </a:t>
                </a:r>
                <a:r>
                  <a:rPr lang="de-DE" dirty="0" err="1"/>
                  <a:t>commonly</a:t>
                </a:r>
                <a:r>
                  <a:rPr lang="de-DE" dirty="0"/>
                  <a:t> </a:t>
                </a:r>
                <a:r>
                  <a:rPr lang="de-DE" dirty="0" err="1"/>
                  <a:t>higher</a:t>
                </a:r>
                <a:r>
                  <a:rPr lang="de-DE" dirty="0"/>
                  <a:t> </a:t>
                </a:r>
                <a:r>
                  <a:rPr lang="el-GR" dirty="0"/>
                  <a:t>α</a:t>
                </a:r>
                <a:r>
                  <a:rPr lang="de-DE" dirty="0"/>
                  <a:t> </a:t>
                </a:r>
                <a:r>
                  <a:rPr lang="de-DE" dirty="0" err="1"/>
                  <a:t>level</a:t>
                </a:r>
                <a:r>
                  <a:rPr lang="de-DE" dirty="0"/>
                  <a:t> (0.1)</a:t>
                </a:r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r="-1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0098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Heterogeneity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Measure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quantify</a:t>
                </a:r>
                <a:r>
                  <a:rPr lang="de-DE" dirty="0"/>
                  <a:t> </a:t>
                </a:r>
                <a:r>
                  <a:rPr lang="de-DE" dirty="0" err="1"/>
                  <a:t>heterogeneity</a:t>
                </a:r>
                <a:r>
                  <a:rPr lang="de-DE" dirty="0"/>
                  <a:t>: I²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²=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⁡{0, 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dirty="0"/>
              </a:p>
              <a:p>
                <a:pPr lvl="1"/>
                <a:r>
                  <a:rPr lang="de-DE" dirty="0"/>
                  <a:t>Q = </a:t>
                </a:r>
                <a:r>
                  <a:rPr lang="de-DE" dirty="0" err="1"/>
                  <a:t>observed</a:t>
                </a:r>
                <a:r>
                  <a:rPr lang="de-DE" dirty="0"/>
                  <a:t> </a:t>
                </a:r>
                <a:r>
                  <a:rPr lang="de-DE" dirty="0" err="1"/>
                  <a:t>weighted</a:t>
                </a:r>
                <a:r>
                  <a:rPr lang="de-DE" dirty="0"/>
                  <a:t> </a:t>
                </a:r>
                <a:r>
                  <a:rPr lang="de-DE" dirty="0" err="1"/>
                  <a:t>sum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squares</a:t>
                </a:r>
                <a:endParaRPr lang="de-DE" dirty="0"/>
              </a:p>
              <a:p>
                <a:pPr lvl="1"/>
                <a:r>
                  <a:rPr lang="de-DE" dirty="0"/>
                  <a:t>P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:r>
                  <a:rPr lang="de-DE" dirty="0" err="1"/>
                  <a:t>calculated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-distribution, (k-1) </a:t>
                </a:r>
                <a:r>
                  <a:rPr lang="de-DE" dirty="0" err="1"/>
                  <a:t>degrees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freedom</a:t>
                </a:r>
                <a:r>
                  <a:rPr lang="de-DE" dirty="0"/>
                  <a:t> (k=</a:t>
                </a:r>
                <a:r>
                  <a:rPr lang="de-DE" dirty="0" err="1"/>
                  <a:t>number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studies</a:t>
                </a:r>
                <a:r>
                  <a:rPr lang="de-DE" dirty="0"/>
                  <a:t>)</a:t>
                </a:r>
              </a:p>
              <a:p>
                <a:pPr lvl="1"/>
                <a:r>
                  <a:rPr lang="de-DE" dirty="0"/>
                  <a:t>Independence on </a:t>
                </a:r>
                <a:r>
                  <a:rPr lang="de-DE" dirty="0" err="1"/>
                  <a:t>number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included</a:t>
                </a:r>
                <a:r>
                  <a:rPr lang="de-DE" dirty="0"/>
                  <a:t> </a:t>
                </a:r>
                <a:r>
                  <a:rPr lang="de-DE" dirty="0" err="1"/>
                  <a:t>studies</a:t>
                </a:r>
                <a:r>
                  <a:rPr lang="de-DE" dirty="0"/>
                  <a:t> but not on </a:t>
                </a:r>
                <a:r>
                  <a:rPr lang="de-DE" dirty="0" err="1"/>
                  <a:t>study</a:t>
                </a:r>
                <a:r>
                  <a:rPr lang="de-DE" dirty="0"/>
                  <a:t> </a:t>
                </a:r>
                <a:r>
                  <a:rPr lang="de-DE" dirty="0" err="1"/>
                  <a:t>size</a:t>
                </a:r>
                <a:endParaRPr lang="de-DE" dirty="0"/>
              </a:p>
              <a:p>
                <a:pPr lvl="1"/>
                <a:r>
                  <a:rPr lang="de-DE" dirty="0" err="1"/>
                  <a:t>Relatively</a:t>
                </a:r>
                <a:r>
                  <a:rPr lang="de-DE" dirty="0"/>
                  <a:t> </a:t>
                </a:r>
                <a:r>
                  <a:rPr lang="de-DE" dirty="0" err="1"/>
                  <a:t>low</a:t>
                </a:r>
                <a:r>
                  <a:rPr lang="de-DE" dirty="0"/>
                  <a:t> power, </a:t>
                </a:r>
                <a:r>
                  <a:rPr lang="de-DE" dirty="0" err="1"/>
                  <a:t>thus</a:t>
                </a:r>
                <a:r>
                  <a:rPr lang="de-DE" dirty="0"/>
                  <a:t> </a:t>
                </a:r>
                <a:r>
                  <a:rPr lang="de-DE" dirty="0" err="1"/>
                  <a:t>commonly</a:t>
                </a:r>
                <a:r>
                  <a:rPr lang="de-DE" dirty="0"/>
                  <a:t> </a:t>
                </a:r>
                <a:r>
                  <a:rPr lang="de-DE" dirty="0" err="1"/>
                  <a:t>higher</a:t>
                </a:r>
                <a:r>
                  <a:rPr lang="de-DE" dirty="0"/>
                  <a:t> </a:t>
                </a:r>
                <a:r>
                  <a:rPr lang="el-GR" dirty="0"/>
                  <a:t>α</a:t>
                </a:r>
                <a:r>
                  <a:rPr lang="de-DE" dirty="0"/>
                  <a:t> </a:t>
                </a:r>
                <a:r>
                  <a:rPr lang="de-DE" dirty="0" err="1"/>
                  <a:t>level</a:t>
                </a:r>
                <a:r>
                  <a:rPr lang="de-DE" dirty="0"/>
                  <a:t> (0.1)</a:t>
                </a:r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r="-17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2964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Heterogeneity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Guidance on the interpretation of I</a:t>
            </a:r>
            <a:r>
              <a:rPr lang="en-US" sz="1600" dirty="0"/>
              <a:t>2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de-DE" dirty="0"/>
              <a:t>	I</a:t>
            </a:r>
            <a:r>
              <a:rPr lang="de-DE" sz="1600" dirty="0"/>
              <a:t>2 </a:t>
            </a:r>
            <a:r>
              <a:rPr lang="de-DE" dirty="0"/>
              <a:t>= 0% :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	I</a:t>
            </a:r>
            <a:r>
              <a:rPr lang="de-DE" sz="1600" dirty="0"/>
              <a:t>2 </a:t>
            </a:r>
            <a:r>
              <a:rPr lang="de-DE" dirty="0"/>
              <a:t>= 25% :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	I</a:t>
            </a:r>
            <a:r>
              <a:rPr lang="de-DE" sz="1600" dirty="0"/>
              <a:t>2 </a:t>
            </a:r>
            <a:r>
              <a:rPr lang="de-DE" dirty="0"/>
              <a:t>= 50% : moderate </a:t>
            </a:r>
            <a:r>
              <a:rPr lang="de-DE" dirty="0" err="1"/>
              <a:t>heterogeneity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	I</a:t>
            </a:r>
            <a:r>
              <a:rPr lang="de-DE" sz="1600" dirty="0"/>
              <a:t>2 </a:t>
            </a:r>
            <a:r>
              <a:rPr lang="de-DE" dirty="0"/>
              <a:t>= 75% : high </a:t>
            </a:r>
            <a:r>
              <a:rPr lang="de-DE" dirty="0" err="1"/>
              <a:t>heterogeneity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					Higgins et al. (2003)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39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65119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Heterogeneity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adress</a:t>
            </a:r>
            <a:r>
              <a:rPr lang="de-DE" dirty="0"/>
              <a:t>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r>
              <a:rPr lang="de-DE" dirty="0"/>
              <a:t>?</a:t>
            </a:r>
          </a:p>
          <a:p>
            <a:r>
              <a:rPr lang="de-DE" dirty="0" err="1"/>
              <a:t>Use</a:t>
            </a:r>
            <a:r>
              <a:rPr lang="de-DE" dirty="0"/>
              <a:t> a </a:t>
            </a:r>
            <a:r>
              <a:rPr lang="de-DE" dirty="0" err="1"/>
              <a:t>random-effects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endParaRPr lang="de-DE" dirty="0"/>
          </a:p>
          <a:p>
            <a:r>
              <a:rPr lang="de-DE" dirty="0" err="1"/>
              <a:t>Stratify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homogeneous</a:t>
            </a:r>
            <a:r>
              <a:rPr lang="de-DE" dirty="0"/>
              <a:t> </a:t>
            </a:r>
            <a:r>
              <a:rPr lang="de-DE" dirty="0" err="1"/>
              <a:t>subgroups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source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identified</a:t>
            </a:r>
            <a:endParaRPr lang="de-DE" dirty="0"/>
          </a:p>
          <a:p>
            <a:r>
              <a:rPr lang="de-DE" dirty="0" err="1"/>
              <a:t>Sometimes</a:t>
            </a:r>
            <a:r>
              <a:rPr lang="de-DE" dirty="0"/>
              <a:t>,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outlier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contributes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 </a:t>
            </a:r>
            <a:r>
              <a:rPr lang="de-DE" dirty="0" err="1"/>
              <a:t>heterogeneity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exclude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one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study</a:t>
            </a:r>
            <a:r>
              <a:rPr lang="de-DE" dirty="0">
                <a:sym typeface="Wingdings" panose="05000000000000000000" pitchFamily="2" charset="2"/>
              </a:rPr>
              <a:t> at a time and </a:t>
            </a:r>
            <a:r>
              <a:rPr lang="de-DE" dirty="0" err="1">
                <a:sym typeface="Wingdings" panose="05000000000000000000" pitchFamily="2" charset="2"/>
              </a:rPr>
              <a:t>compare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results</a:t>
            </a:r>
            <a:endParaRPr lang="de-DE" dirty="0"/>
          </a:p>
          <a:p>
            <a:r>
              <a:rPr lang="de-DE" dirty="0"/>
              <a:t>Do not </a:t>
            </a:r>
            <a:r>
              <a:rPr lang="de-DE" dirty="0" err="1"/>
              <a:t>perform</a:t>
            </a:r>
            <a:r>
              <a:rPr lang="de-DE" dirty="0"/>
              <a:t> a meta-analysis but </a:t>
            </a:r>
            <a:r>
              <a:rPr lang="de-DE" dirty="0" err="1"/>
              <a:t>only</a:t>
            </a:r>
            <a:r>
              <a:rPr lang="de-DE" dirty="0"/>
              <a:t> a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narrative </a:t>
            </a:r>
            <a:r>
              <a:rPr lang="de-DE" dirty="0" err="1"/>
              <a:t>review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0348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Publication</a:t>
            </a:r>
            <a:r>
              <a:rPr lang="de-DE" dirty="0"/>
              <a:t> </a:t>
            </a:r>
            <a:r>
              <a:rPr lang="de-DE" dirty="0" err="1"/>
              <a:t>bias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the probability of results being published depends on the “significance” of estimated effects, results of meta-analyses are biased</a:t>
            </a:r>
          </a:p>
          <a:p>
            <a:r>
              <a:rPr lang="en-US" dirty="0"/>
              <a:t>No definite way of telling if publication bias is present, but </a:t>
            </a:r>
            <a:r>
              <a:rPr lang="en-US" i="1" dirty="0"/>
              <a:t>funnel plots</a:t>
            </a:r>
            <a:r>
              <a:rPr lang="en-US" dirty="0"/>
              <a:t> provide helpful information</a:t>
            </a:r>
          </a:p>
          <a:p>
            <a:r>
              <a:rPr lang="en-US" dirty="0"/>
              <a:t>Variation in effect size expected to be larger in smaller studies, but over- and underestimated effect sizes should be equally frequent in the absence of publication bias (PB)</a:t>
            </a:r>
          </a:p>
          <a:p>
            <a:r>
              <a:rPr lang="en-US" dirty="0"/>
              <a:t>“Missing” small studies with null results suggest PB</a:t>
            </a:r>
          </a:p>
          <a:p>
            <a:pPr marL="0" indent="0">
              <a:buNone/>
            </a:pPr>
            <a:r>
              <a:rPr lang="en-US" dirty="0"/>
              <a:t>(i.e., funnel plot asymmetry will be present)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70948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Funnel</a:t>
            </a:r>
            <a:r>
              <a:rPr lang="de-DE" dirty="0"/>
              <a:t> </a:t>
            </a:r>
            <a:r>
              <a:rPr lang="de-DE" dirty="0" err="1"/>
              <a:t>plot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8150" y="1402913"/>
            <a:ext cx="7886700" cy="2339262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990600" y="398145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publication</a:t>
            </a:r>
            <a:r>
              <a:rPr lang="de-DE" dirty="0"/>
              <a:t> </a:t>
            </a:r>
            <a:r>
              <a:rPr lang="de-DE" dirty="0" err="1"/>
              <a:t>bias</a:t>
            </a: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3417249" y="3981450"/>
            <a:ext cx="242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/>
              <a:t>Publication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present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5978315" y="3981450"/>
            <a:ext cx="2714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/>
              <a:t>Presence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methodological</a:t>
            </a:r>
            <a:r>
              <a:rPr lang="de-DE" dirty="0"/>
              <a:t> </a:t>
            </a:r>
            <a:r>
              <a:rPr lang="de-DE" dirty="0" err="1"/>
              <a:t>quality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628650" y="4629150"/>
            <a:ext cx="79819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funnel</a:t>
            </a:r>
            <a:r>
              <a:rPr lang="de-DE" dirty="0"/>
              <a:t> </a:t>
            </a:r>
            <a:r>
              <a:rPr lang="de-DE" dirty="0" err="1"/>
              <a:t>plot</a:t>
            </a:r>
            <a:r>
              <a:rPr lang="de-DE" dirty="0"/>
              <a:t> </a:t>
            </a:r>
            <a:r>
              <a:rPr lang="de-DE" dirty="0" err="1"/>
              <a:t>asymmetry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Begg’s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Egger’s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(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latter</a:t>
            </a:r>
            <a:r>
              <a:rPr lang="de-DE" dirty="0"/>
              <a:t> not </a:t>
            </a:r>
            <a:r>
              <a:rPr lang="de-DE" dirty="0" err="1"/>
              <a:t>recommended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binary</a:t>
            </a:r>
            <a:r>
              <a:rPr lang="de-DE" dirty="0"/>
              <a:t> </a:t>
            </a:r>
            <a:r>
              <a:rPr lang="de-DE" dirty="0" err="1"/>
              <a:t>outcomes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Trim-and-fill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Trim small studies until an unbiased estimate of effect size symmetrically about the mean effect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Fill the original studies back and impute a mirror image for each (in order to correct the variance)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059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Publication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–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sz="2400" dirty="0" err="1"/>
              <a:t>Famous</a:t>
            </a:r>
            <a:r>
              <a:rPr lang="de-DE" sz="2400" dirty="0"/>
              <a:t> </a:t>
            </a:r>
            <a:r>
              <a:rPr lang="de-DE" sz="2400" dirty="0" err="1"/>
              <a:t>example</a:t>
            </a:r>
            <a:r>
              <a:rPr lang="de-DE" sz="2400" dirty="0"/>
              <a:t>: </a:t>
            </a:r>
            <a:r>
              <a:rPr lang="de-DE" sz="2400" dirty="0" err="1"/>
              <a:t>Tamiflu</a:t>
            </a:r>
            <a:r>
              <a:rPr lang="de-DE" sz="2400" dirty="0"/>
              <a:t> (</a:t>
            </a:r>
            <a:r>
              <a:rPr lang="de-DE" sz="2400" dirty="0" err="1"/>
              <a:t>Oseltamivir</a:t>
            </a:r>
            <a:r>
              <a:rPr lang="de-DE" sz="2400" dirty="0"/>
              <a:t>) </a:t>
            </a:r>
            <a:r>
              <a:rPr lang="de-DE" sz="2400" dirty="0" err="1"/>
              <a:t>from</a:t>
            </a:r>
            <a:r>
              <a:rPr lang="de-DE" sz="2400" dirty="0"/>
              <a:t> Roche</a:t>
            </a:r>
          </a:p>
          <a:p>
            <a:r>
              <a:rPr lang="de-DE" sz="2400" dirty="0" err="1"/>
              <a:t>Medication</a:t>
            </a:r>
            <a:r>
              <a:rPr lang="de-DE" sz="2400" dirty="0"/>
              <a:t> </a:t>
            </a:r>
            <a:r>
              <a:rPr lang="de-DE" sz="2400" dirty="0" err="1"/>
              <a:t>is</a:t>
            </a:r>
            <a:r>
              <a:rPr lang="de-DE" sz="2400" dirty="0"/>
              <a:t> </a:t>
            </a:r>
            <a:r>
              <a:rPr lang="de-DE" sz="2400" dirty="0" err="1"/>
              <a:t>supposed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shorten</a:t>
            </a:r>
            <a:r>
              <a:rPr lang="de-DE" sz="2400" dirty="0"/>
              <a:t> </a:t>
            </a:r>
            <a:r>
              <a:rPr lang="de-DE" sz="2400" dirty="0" err="1"/>
              <a:t>and</a:t>
            </a:r>
            <a:r>
              <a:rPr lang="de-DE" sz="2400" dirty="0"/>
              <a:t> </a:t>
            </a:r>
            <a:r>
              <a:rPr lang="de-DE" sz="2400" dirty="0" err="1"/>
              <a:t>reduce</a:t>
            </a:r>
            <a:r>
              <a:rPr lang="de-DE" sz="2400" dirty="0"/>
              <a:t> </a:t>
            </a:r>
            <a:r>
              <a:rPr lang="de-DE" sz="2400" dirty="0" err="1"/>
              <a:t>symptoms</a:t>
            </a:r>
            <a:r>
              <a:rPr lang="de-DE" sz="2400" dirty="0"/>
              <a:t> </a:t>
            </a:r>
            <a:r>
              <a:rPr lang="de-DE" sz="2400" dirty="0" err="1"/>
              <a:t>associated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influenza</a:t>
            </a:r>
            <a:endParaRPr lang="de-DE" sz="2400" dirty="0"/>
          </a:p>
          <a:p>
            <a:r>
              <a:rPr lang="de-DE" sz="2400" dirty="0"/>
              <a:t>Studies </a:t>
            </a:r>
            <a:r>
              <a:rPr lang="de-DE" sz="2400" dirty="0" err="1"/>
              <a:t>were</a:t>
            </a:r>
            <a:r>
              <a:rPr lang="de-DE" sz="2400" dirty="0"/>
              <a:t> </a:t>
            </a:r>
            <a:r>
              <a:rPr lang="de-DE" sz="2400" dirty="0" err="1"/>
              <a:t>published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suggested</a:t>
            </a:r>
            <a:r>
              <a:rPr lang="de-DE" sz="2400" dirty="0"/>
              <a:t> </a:t>
            </a:r>
            <a:r>
              <a:rPr lang="de-DE" sz="2400" dirty="0" err="1"/>
              <a:t>associations</a:t>
            </a:r>
            <a:r>
              <a:rPr lang="de-DE" sz="2400" dirty="0"/>
              <a:t> </a:t>
            </a:r>
            <a:r>
              <a:rPr lang="de-DE" sz="2400" dirty="0" err="1"/>
              <a:t>between</a:t>
            </a:r>
            <a:r>
              <a:rPr lang="de-DE" sz="2400" dirty="0"/>
              <a:t> </a:t>
            </a:r>
            <a:r>
              <a:rPr lang="de-DE" sz="2400" dirty="0" err="1"/>
              <a:t>Tamiflu</a:t>
            </a:r>
            <a:r>
              <a:rPr lang="de-DE" sz="2400" dirty="0"/>
              <a:t> </a:t>
            </a:r>
            <a:r>
              <a:rPr lang="de-DE" sz="2400" dirty="0" err="1"/>
              <a:t>intake</a:t>
            </a:r>
            <a:r>
              <a:rPr lang="de-DE" sz="2400" dirty="0"/>
              <a:t> in </a:t>
            </a:r>
            <a:r>
              <a:rPr lang="de-DE" sz="2400" dirty="0" err="1"/>
              <a:t>influenza</a:t>
            </a:r>
            <a:r>
              <a:rPr lang="de-DE" sz="2400" dirty="0"/>
              <a:t> </a:t>
            </a:r>
            <a:r>
              <a:rPr lang="de-DE" sz="2400" dirty="0" err="1"/>
              <a:t>patients</a:t>
            </a:r>
            <a:r>
              <a:rPr lang="de-DE" sz="2400" dirty="0"/>
              <a:t> </a:t>
            </a:r>
            <a:r>
              <a:rPr lang="de-DE" sz="2400" dirty="0" err="1"/>
              <a:t>and</a:t>
            </a:r>
            <a:r>
              <a:rPr lang="de-DE" sz="2400" dirty="0"/>
              <a:t> </a:t>
            </a:r>
            <a:r>
              <a:rPr lang="de-DE" sz="2400" dirty="0" err="1"/>
              <a:t>shorter</a:t>
            </a:r>
            <a:r>
              <a:rPr lang="de-DE" sz="2400" dirty="0"/>
              <a:t> </a:t>
            </a:r>
            <a:r>
              <a:rPr lang="de-DE" sz="2400" dirty="0" err="1"/>
              <a:t>hospital</a:t>
            </a:r>
            <a:r>
              <a:rPr lang="de-DE" sz="2400" dirty="0"/>
              <a:t> </a:t>
            </a:r>
            <a:r>
              <a:rPr lang="de-DE" sz="2400" dirty="0" err="1"/>
              <a:t>stay</a:t>
            </a:r>
            <a:endParaRPr lang="de-DE" sz="2400" dirty="0"/>
          </a:p>
          <a:p>
            <a:r>
              <a:rPr lang="de-DE" sz="2400" dirty="0" err="1"/>
              <a:t>Authors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those</a:t>
            </a:r>
            <a:r>
              <a:rPr lang="de-DE" sz="2400" dirty="0"/>
              <a:t> </a:t>
            </a:r>
            <a:r>
              <a:rPr lang="de-DE" sz="2400" dirty="0" err="1"/>
              <a:t>studies</a:t>
            </a:r>
            <a:r>
              <a:rPr lang="de-DE" sz="2400" dirty="0"/>
              <a:t> </a:t>
            </a:r>
            <a:r>
              <a:rPr lang="de-DE" sz="2400" dirty="0" err="1"/>
              <a:t>were</a:t>
            </a:r>
            <a:r>
              <a:rPr lang="de-DE" sz="2400" dirty="0"/>
              <a:t> all </a:t>
            </a:r>
            <a:r>
              <a:rPr lang="de-DE" sz="2400" dirty="0" err="1"/>
              <a:t>paid</a:t>
            </a:r>
            <a:r>
              <a:rPr lang="de-DE" sz="2400" dirty="0"/>
              <a:t> </a:t>
            </a:r>
            <a:r>
              <a:rPr lang="de-DE" sz="2400" dirty="0" err="1"/>
              <a:t>by</a:t>
            </a:r>
            <a:r>
              <a:rPr lang="de-DE" sz="2400" dirty="0"/>
              <a:t> Roche</a:t>
            </a:r>
          </a:p>
          <a:p>
            <a:r>
              <a:rPr lang="de-DE" sz="2400" dirty="0" err="1"/>
              <a:t>There</a:t>
            </a:r>
            <a:r>
              <a:rPr lang="de-DE" sz="2400" dirty="0"/>
              <a:t> </a:t>
            </a:r>
            <a:r>
              <a:rPr lang="de-DE" sz="2400" dirty="0" err="1"/>
              <a:t>own</a:t>
            </a:r>
            <a:r>
              <a:rPr lang="de-DE" sz="2400" dirty="0"/>
              <a:t> </a:t>
            </a:r>
            <a:r>
              <a:rPr lang="de-DE" sz="2400" dirty="0" err="1"/>
              <a:t>further</a:t>
            </a:r>
            <a:r>
              <a:rPr lang="de-DE" sz="2400" dirty="0"/>
              <a:t> </a:t>
            </a:r>
            <a:r>
              <a:rPr lang="de-DE" sz="2400" dirty="0" err="1"/>
              <a:t>studies</a:t>
            </a:r>
            <a:r>
              <a:rPr lang="de-DE" sz="2400" dirty="0"/>
              <a:t> </a:t>
            </a:r>
            <a:r>
              <a:rPr lang="de-DE" sz="2400" dirty="0" err="1"/>
              <a:t>which</a:t>
            </a:r>
            <a:r>
              <a:rPr lang="de-DE" sz="2400" dirty="0"/>
              <a:t> </a:t>
            </a:r>
            <a:r>
              <a:rPr lang="de-DE" sz="2400" dirty="0" err="1"/>
              <a:t>found</a:t>
            </a:r>
            <a:r>
              <a:rPr lang="de-DE" sz="2400" dirty="0"/>
              <a:t> </a:t>
            </a:r>
            <a:r>
              <a:rPr lang="de-DE" sz="2400" dirty="0" err="1"/>
              <a:t>no</a:t>
            </a:r>
            <a:r>
              <a:rPr lang="de-DE" sz="2400" dirty="0"/>
              <a:t> </a:t>
            </a:r>
            <a:r>
              <a:rPr lang="de-DE" sz="2400" dirty="0" err="1"/>
              <a:t>or</a:t>
            </a:r>
            <a:r>
              <a:rPr lang="de-DE" sz="2400" dirty="0"/>
              <a:t> </a:t>
            </a:r>
            <a:r>
              <a:rPr lang="de-DE" sz="2400" dirty="0" err="1"/>
              <a:t>very</a:t>
            </a:r>
            <a:r>
              <a:rPr lang="de-DE" sz="2400" dirty="0"/>
              <a:t> minor </a:t>
            </a:r>
            <a:r>
              <a:rPr lang="de-DE" sz="2400" dirty="0" err="1"/>
              <a:t>benefitial</a:t>
            </a:r>
            <a:r>
              <a:rPr lang="de-DE" sz="2400" dirty="0"/>
              <a:t> </a:t>
            </a:r>
            <a:r>
              <a:rPr lang="de-DE" sz="2400" dirty="0" err="1"/>
              <a:t>effects</a:t>
            </a:r>
            <a:r>
              <a:rPr lang="de-DE" sz="2400" dirty="0"/>
              <a:t> </a:t>
            </a:r>
            <a:r>
              <a:rPr lang="de-DE" sz="2400" dirty="0" err="1"/>
              <a:t>remained</a:t>
            </a:r>
            <a:r>
              <a:rPr lang="de-DE" sz="2400" dirty="0"/>
              <a:t> </a:t>
            </a:r>
            <a:r>
              <a:rPr lang="de-DE" sz="2400" dirty="0" err="1"/>
              <a:t>unpublished</a:t>
            </a:r>
            <a:endParaRPr lang="de-DE" sz="2400" dirty="0"/>
          </a:p>
          <a:p>
            <a:r>
              <a:rPr lang="de-DE" sz="2400" dirty="0" err="1"/>
              <a:t>Including</a:t>
            </a:r>
            <a:r>
              <a:rPr lang="de-DE" sz="2400" dirty="0"/>
              <a:t> all </a:t>
            </a:r>
            <a:r>
              <a:rPr lang="de-DE" sz="2400" dirty="0" err="1"/>
              <a:t>studies</a:t>
            </a:r>
            <a:r>
              <a:rPr lang="de-DE" sz="2400" dirty="0"/>
              <a:t> </a:t>
            </a:r>
            <a:r>
              <a:rPr lang="de-DE" sz="2400" dirty="0" err="1"/>
              <a:t>reveiled</a:t>
            </a:r>
            <a:r>
              <a:rPr lang="de-DE" sz="2400" dirty="0"/>
              <a:t> </a:t>
            </a:r>
            <a:r>
              <a:rPr lang="de-DE" sz="2400" dirty="0" err="1"/>
              <a:t>only</a:t>
            </a:r>
            <a:r>
              <a:rPr lang="de-DE" sz="2400" dirty="0"/>
              <a:t> </a:t>
            </a:r>
            <a:r>
              <a:rPr lang="de-DE" sz="2400" dirty="0" err="1"/>
              <a:t>very</a:t>
            </a:r>
            <a:r>
              <a:rPr lang="de-DE" sz="2400" dirty="0"/>
              <a:t> minor </a:t>
            </a:r>
            <a:r>
              <a:rPr lang="de-DE" sz="2400" dirty="0" err="1"/>
              <a:t>benefit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medication</a:t>
            </a:r>
            <a:r>
              <a:rPr lang="de-DE" sz="2400" dirty="0"/>
              <a:t> </a:t>
            </a:r>
            <a:r>
              <a:rPr lang="de-DE" sz="2400" dirty="0" err="1"/>
              <a:t>and</a:t>
            </a:r>
            <a:r>
              <a:rPr lang="de-DE" sz="2400" dirty="0"/>
              <a:t> </a:t>
            </a:r>
            <a:r>
              <a:rPr lang="de-DE" sz="2400" dirty="0" err="1"/>
              <a:t>no</a:t>
            </a:r>
            <a:r>
              <a:rPr lang="de-DE" sz="2400" dirty="0"/>
              <a:t> </a:t>
            </a:r>
            <a:r>
              <a:rPr lang="de-DE" sz="2400" dirty="0" err="1"/>
              <a:t>evidence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reductions</a:t>
            </a:r>
            <a:r>
              <a:rPr lang="de-DE" sz="2400" dirty="0"/>
              <a:t> in </a:t>
            </a:r>
            <a:r>
              <a:rPr lang="de-DE" sz="2400" dirty="0" err="1"/>
              <a:t>serious</a:t>
            </a:r>
            <a:r>
              <a:rPr lang="de-DE" sz="2400" dirty="0"/>
              <a:t> </a:t>
            </a:r>
            <a:r>
              <a:rPr lang="de-DE" sz="2400" dirty="0" err="1"/>
              <a:t>complications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2878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Study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assessment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Study Quality Assessment Tools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NIH: </a:t>
            </a:r>
            <a:r>
              <a:rPr lang="de-DE" sz="2400" dirty="0">
                <a:hlinkClick r:id="rId2"/>
              </a:rPr>
              <a:t>https://www.nhlbi.nih.gov/health-topics/study-quality-assessment-tools</a:t>
            </a:r>
            <a:r>
              <a:rPr lang="de-DE" sz="2400" dirty="0"/>
              <a:t> </a:t>
            </a:r>
          </a:p>
          <a:p>
            <a:r>
              <a:rPr lang="de-DE" sz="2400" dirty="0"/>
              <a:t>McMaster University: </a:t>
            </a:r>
            <a:r>
              <a:rPr lang="de-DE" sz="2400" dirty="0">
                <a:hlinkClick r:id="rId3"/>
              </a:rPr>
              <a:t>https://www.healthevidence.org/documents/our-appraisal-tools/QA_Tool&amp;Dictionary_10Nov16.pdf</a:t>
            </a:r>
            <a:r>
              <a:rPr lang="de-DE" sz="2400" dirty="0"/>
              <a:t> </a:t>
            </a:r>
          </a:p>
          <a:p>
            <a:r>
              <a:rPr lang="en-US" sz="2400" dirty="0"/>
              <a:t>Newcastle-Ottawa Scale (NOS) for assessing the quality of </a:t>
            </a:r>
            <a:r>
              <a:rPr lang="en-US" sz="2400" dirty="0" err="1"/>
              <a:t>nonrandomised</a:t>
            </a:r>
            <a:r>
              <a:rPr lang="en-US" sz="2400" dirty="0"/>
              <a:t> studies in meta-analyses: </a:t>
            </a:r>
            <a:r>
              <a:rPr lang="en-US" sz="2000" dirty="0">
                <a:hlinkClick r:id="rId4"/>
              </a:rPr>
              <a:t>http://www.ohri.ca/programs/clinical_epidemiology/oxford.asp</a:t>
            </a:r>
            <a:endParaRPr lang="en-US" sz="2000" dirty="0"/>
          </a:p>
          <a:p>
            <a:r>
              <a:rPr lang="de-DE" sz="2400" dirty="0"/>
              <a:t>QUADAS-2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diagnostic</a:t>
            </a:r>
            <a:r>
              <a:rPr lang="de-DE" sz="2400" dirty="0"/>
              <a:t> </a:t>
            </a:r>
            <a:r>
              <a:rPr lang="de-DE" sz="2400" dirty="0" err="1"/>
              <a:t>accuracy</a:t>
            </a:r>
            <a:r>
              <a:rPr lang="de-DE" sz="2400" dirty="0"/>
              <a:t> </a:t>
            </a:r>
            <a:r>
              <a:rPr lang="de-DE" sz="2400" dirty="0" err="1"/>
              <a:t>studies</a:t>
            </a:r>
            <a:r>
              <a:rPr lang="de-DE" sz="2400" dirty="0"/>
              <a:t>: </a:t>
            </a:r>
            <a:r>
              <a:rPr lang="de-DE" sz="2000" dirty="0">
                <a:hlinkClick r:id="rId5"/>
              </a:rPr>
              <a:t>https://www.bristol.ac.uk/population-health-sciences/projects/quadas/quadas-2/</a:t>
            </a:r>
            <a:endParaRPr lang="de-DE" sz="2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18821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Meta-analysis in 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Meta-analyses can be done in various statistical programs but we will focus on R (open source, free of charge, huge number of add-on packages)</a:t>
            </a:r>
          </a:p>
          <a:p>
            <a:r>
              <a:rPr lang="en-US" dirty="0">
                <a:hlinkClick r:id="rId2"/>
              </a:rPr>
              <a:t>https://cran.r-project.org/web/views/MetaAnalysis.html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overview of R packages related to meta-analysis</a:t>
            </a:r>
          </a:p>
          <a:p>
            <a:r>
              <a:rPr lang="en-US" dirty="0">
                <a:sym typeface="Wingdings" panose="05000000000000000000" pitchFamily="2" charset="2"/>
              </a:rPr>
              <a:t>Widely used: ‘meta’ and ‘metafor’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r>
              <a:rPr lang="en-US" dirty="0">
                <a:sym typeface="Wingdings" panose="05000000000000000000" pitchFamily="2" charset="2"/>
              </a:rPr>
              <a:t> for meta-analysis of RRs, ORs, RDs etc., HSROC or bivariate model (‘</a:t>
            </a:r>
            <a:r>
              <a:rPr lang="en-US" dirty="0" err="1">
                <a:sym typeface="Wingdings" panose="05000000000000000000" pitchFamily="2" charset="2"/>
              </a:rPr>
              <a:t>mada</a:t>
            </a:r>
            <a:r>
              <a:rPr lang="en-US" dirty="0">
                <a:sym typeface="Wingdings" panose="05000000000000000000" pitchFamily="2" charset="2"/>
              </a:rPr>
              <a:t>’) for diagnostic accuracy studies</a:t>
            </a:r>
            <a:endParaRPr lang="en-US" dirty="0"/>
          </a:p>
        </p:txBody>
      </p:sp>
      <p:sp>
        <p:nvSpPr>
          <p:cNvPr id="4" name="Textfeld 3"/>
          <p:cNvSpPr txBox="1"/>
          <p:nvPr/>
        </p:nvSpPr>
        <p:spPr>
          <a:xfrm>
            <a:off x="228663" y="6017825"/>
            <a:ext cx="868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aseline="30000" dirty="0">
                <a:sym typeface="Wingdings" panose="05000000000000000000" pitchFamily="2" charset="2"/>
              </a:rPr>
              <a:t>1</a:t>
            </a:r>
            <a:r>
              <a:rPr lang="de-DE" dirty="0">
                <a:sym typeface="Wingdings" panose="05000000000000000000" pitchFamily="2" charset="2"/>
              </a:rPr>
              <a:t>(&gt;9500 and &gt;6900 </a:t>
            </a:r>
            <a:r>
              <a:rPr lang="de-DE" dirty="0" err="1">
                <a:sym typeface="Wingdings" panose="05000000000000000000" pitchFamily="2" charset="2"/>
              </a:rPr>
              <a:t>citations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according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Google Scholar and Web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Science, </a:t>
            </a:r>
            <a:r>
              <a:rPr lang="de-DE" dirty="0" err="1">
                <a:sym typeface="Wingdings" panose="05000000000000000000" pitchFamily="2" charset="2"/>
              </a:rPr>
              <a:t>respectively</a:t>
            </a:r>
            <a:r>
              <a:rPr lang="de-DE" dirty="0">
                <a:sym typeface="Wingdings" panose="05000000000000000000" pitchFamily="2" charset="2"/>
              </a:rPr>
              <a:t>)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1203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examples using the ‘meta’ package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b="1" dirty="0" err="1"/>
              <a:t>cont</a:t>
            </a:r>
            <a:r>
              <a:rPr lang="de-DE" dirty="0" err="1"/>
              <a:t>inuous</a:t>
            </a:r>
            <a:r>
              <a:rPr lang="de-DE" dirty="0"/>
              <a:t> </a:t>
            </a:r>
            <a:r>
              <a:rPr lang="de-DE" dirty="0" err="1"/>
              <a:t>outcome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:</a:t>
            </a:r>
          </a:p>
          <a:p>
            <a:r>
              <a:rPr lang="de-DE" dirty="0" err="1"/>
              <a:t>Get</a:t>
            </a:r>
            <a:r>
              <a:rPr lang="de-DE" dirty="0"/>
              <a:t> dataset01.csv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>
                <a:hlinkClick r:id="rId2"/>
              </a:rPr>
              <a:t>https://www.uniklinik-freiburg.de/imbi/stud-le/meta-analysis-with-r.html</a:t>
            </a:r>
            <a:r>
              <a:rPr lang="de-DE" dirty="0"/>
              <a:t> </a:t>
            </a:r>
          </a:p>
          <a:p>
            <a:r>
              <a:rPr lang="de-DE" dirty="0"/>
              <a:t>Select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appropriate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(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effects</a:t>
            </a:r>
            <a:r>
              <a:rPr lang="de-DE" dirty="0"/>
              <a:t>)</a:t>
            </a:r>
          </a:p>
          <a:p>
            <a:r>
              <a:rPr lang="de-DE" dirty="0"/>
              <a:t>Select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appropriate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(</a:t>
            </a:r>
            <a:r>
              <a:rPr lang="de-DE" dirty="0" err="1"/>
              <a:t>here</a:t>
            </a:r>
            <a:r>
              <a:rPr lang="de-DE" dirty="0"/>
              <a:t>: </a:t>
            </a:r>
            <a:r>
              <a:rPr lang="de-DE" dirty="0" err="1"/>
              <a:t>meta</a:t>
            </a:r>
            <a:r>
              <a:rPr lang="de-DE" b="1" dirty="0" err="1"/>
              <a:t>cont</a:t>
            </a:r>
            <a:r>
              <a:rPr lang="de-DE" dirty="0"/>
              <a:t>)</a:t>
            </a:r>
          </a:p>
          <a:p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meaning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relevant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/ </a:t>
            </a:r>
            <a:r>
              <a:rPr lang="en-US" dirty="0"/>
              <a:t>“function arguments”</a:t>
            </a:r>
            <a:r>
              <a:rPr lang="de-DE" dirty="0"/>
              <a:t> (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slide</a:t>
            </a:r>
            <a:r>
              <a:rPr lang="de-DE" dirty="0"/>
              <a:t>)</a:t>
            </a:r>
          </a:p>
          <a:p>
            <a:r>
              <a:rPr lang="de-DE" dirty="0"/>
              <a:t>Select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appropriate</a:t>
            </a:r>
            <a:r>
              <a:rPr lang="de-DE" dirty="0"/>
              <a:t> </a:t>
            </a:r>
            <a:r>
              <a:rPr lang="de-DE" dirty="0" err="1"/>
              <a:t>outcome</a:t>
            </a:r>
            <a:r>
              <a:rPr lang="de-DE" dirty="0"/>
              <a:t> </a:t>
            </a:r>
            <a:r>
              <a:rPr lang="de-DE" dirty="0" err="1"/>
              <a:t>measure</a:t>
            </a:r>
            <a:r>
              <a:rPr lang="de-DE" dirty="0"/>
              <a:t> (e.g.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7317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meta</a:t>
            </a:r>
            <a:r>
              <a:rPr lang="de-DE" dirty="0"/>
              <a:t> </a:t>
            </a:r>
            <a:r>
              <a:rPr lang="de-DE" dirty="0" err="1"/>
              <a:t>package</a:t>
            </a:r>
            <a:r>
              <a:rPr lang="de-DE" dirty="0"/>
              <a:t> – </a:t>
            </a:r>
            <a:r>
              <a:rPr lang="de-DE" dirty="0" err="1"/>
              <a:t>function</a:t>
            </a:r>
            <a:r>
              <a:rPr lang="de-DE" dirty="0"/>
              <a:t> ‘</a:t>
            </a:r>
            <a:r>
              <a:rPr lang="de-DE" dirty="0" err="1"/>
              <a:t>metacont</a:t>
            </a:r>
            <a:r>
              <a:rPr lang="de-DE" dirty="0"/>
              <a:t>‘ 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390692"/>
              </p:ext>
            </p:extLst>
          </p:nvPr>
        </p:nvGraphicFramePr>
        <p:xfrm>
          <a:off x="628646" y="1825625"/>
          <a:ext cx="7096128" cy="4627337"/>
        </p:xfrm>
        <a:graphic>
          <a:graphicData uri="http://schemas.openxmlformats.org/drawingml/2006/table">
            <a:tbl>
              <a:tblPr/>
              <a:tblGrid>
                <a:gridCol w="3548064">
                  <a:extLst>
                    <a:ext uri="{9D8B030D-6E8A-4147-A177-3AD203B41FA5}">
                      <a16:colId xmlns:a16="http://schemas.microsoft.com/office/drawing/2014/main" val="1641864897"/>
                    </a:ext>
                  </a:extLst>
                </a:gridCol>
                <a:gridCol w="3548064">
                  <a:extLst>
                    <a:ext uri="{9D8B030D-6E8A-4147-A177-3AD203B41FA5}">
                      <a16:colId xmlns:a16="http://schemas.microsoft.com/office/drawing/2014/main" val="2758419650"/>
                    </a:ext>
                  </a:extLst>
                </a:gridCol>
              </a:tblGrid>
              <a:tr h="191268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effectLst/>
                        </a:rPr>
                        <a:t>Parameter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>
                          <a:effectLst/>
                        </a:rPr>
                        <a:t>Function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31496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effectLst/>
                        </a:rPr>
                        <a:t>Ne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The number of participants (N) in the intervention group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4119959"/>
                  </a:ext>
                </a:extLst>
              </a:tr>
              <a:tr h="191268">
                <a:tc>
                  <a:txBody>
                    <a:bodyPr/>
                    <a:lstStyle/>
                    <a:p>
                      <a:pPr algn="l"/>
                      <a:r>
                        <a:rPr lang="de-DE" sz="1200" dirty="0" err="1">
                          <a:effectLst/>
                        </a:rPr>
                        <a:t>Me</a:t>
                      </a:r>
                      <a:r>
                        <a:rPr lang="de-DE" sz="1200" dirty="0">
                          <a:effectLst/>
                        </a:rPr>
                        <a:t>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The mean (M) of the intervention group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06246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de-DE" sz="1200" dirty="0">
                          <a:effectLst/>
                        </a:rPr>
                        <a:t>Se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The standard deviation (SD) of the intervention group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67921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de-DE" sz="1200" dirty="0" err="1">
                          <a:effectLst/>
                        </a:rPr>
                        <a:t>Nc</a:t>
                      </a:r>
                      <a:r>
                        <a:rPr lang="de-DE" sz="1200" dirty="0">
                          <a:effectLst/>
                        </a:rPr>
                        <a:t>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The number of participants (N) in the control group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815445"/>
                  </a:ext>
                </a:extLst>
              </a:tr>
              <a:tr h="191268">
                <a:tc>
                  <a:txBody>
                    <a:bodyPr/>
                    <a:lstStyle/>
                    <a:p>
                      <a:pPr algn="l"/>
                      <a:r>
                        <a:rPr lang="de-DE" sz="1200" dirty="0" err="1">
                          <a:effectLst/>
                        </a:rPr>
                        <a:t>Mc</a:t>
                      </a:r>
                      <a:r>
                        <a:rPr lang="de-DE" sz="1200" dirty="0">
                          <a:effectLst/>
                        </a:rPr>
                        <a:t>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The mean (M) of the control group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10008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de-DE" sz="1200" dirty="0" err="1">
                          <a:effectLst/>
                        </a:rPr>
                        <a:t>Sc</a:t>
                      </a:r>
                      <a:r>
                        <a:rPr lang="de-DE" sz="1200" dirty="0">
                          <a:effectLst/>
                        </a:rPr>
                        <a:t>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The standard deviation (SD) of the control group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13863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de-DE" sz="1200" dirty="0" err="1">
                          <a:effectLst/>
                        </a:rPr>
                        <a:t>data</a:t>
                      </a:r>
                      <a:r>
                        <a:rPr lang="de-DE" sz="1200" dirty="0">
                          <a:effectLst/>
                        </a:rPr>
                        <a:t>=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After ‘=’, paste the name of your dataset here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71044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l"/>
                      <a:r>
                        <a:rPr lang="de-DE" sz="1200" dirty="0" err="1">
                          <a:effectLst/>
                        </a:rPr>
                        <a:t>studlab</a:t>
                      </a:r>
                      <a:r>
                        <a:rPr lang="de-DE" sz="1200" dirty="0">
                          <a:effectLst/>
                        </a:rPr>
                        <a:t>=</a:t>
                      </a:r>
                      <a:r>
                        <a:rPr lang="de-DE" sz="1200" dirty="0" err="1">
                          <a:effectLst/>
                        </a:rPr>
                        <a:t>paste</a:t>
                      </a:r>
                      <a:r>
                        <a:rPr lang="de-DE" sz="1200" dirty="0">
                          <a:effectLst/>
                        </a:rPr>
                        <a:t>()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This tells the function were the labels for each study are stored. If you named the spreadsheet columns as advised, this should be </a:t>
                      </a:r>
                      <a:r>
                        <a:rPr lang="en-US" sz="1200" dirty="0" err="1">
                          <a:effectLst/>
                        </a:rPr>
                        <a:t>studlab</a:t>
                      </a:r>
                      <a:r>
                        <a:rPr lang="en-US" sz="1200" dirty="0">
                          <a:effectLst/>
                        </a:rPr>
                        <a:t>=paste(Author)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041505"/>
                  </a:ext>
                </a:extLst>
              </a:tr>
              <a:tr h="191268">
                <a:tc>
                  <a:txBody>
                    <a:bodyPr/>
                    <a:lstStyle/>
                    <a:p>
                      <a:pPr algn="l"/>
                      <a:r>
                        <a:rPr lang="de-DE" sz="1200" dirty="0" err="1">
                          <a:effectLst/>
                        </a:rPr>
                        <a:t>fixed</a:t>
                      </a:r>
                      <a:r>
                        <a:rPr lang="de-DE" sz="1200" dirty="0">
                          <a:effectLst/>
                        </a:rPr>
                        <a:t>=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Whether to use a fixed-effects-model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405794"/>
                  </a:ext>
                </a:extLst>
              </a:tr>
              <a:tr h="191268">
                <a:tc>
                  <a:txBody>
                    <a:bodyPr/>
                    <a:lstStyle/>
                    <a:p>
                      <a:pPr algn="l"/>
                      <a:r>
                        <a:rPr lang="de-DE" sz="1200" dirty="0" err="1">
                          <a:effectLst/>
                        </a:rPr>
                        <a:t>random</a:t>
                      </a:r>
                      <a:r>
                        <a:rPr lang="de-DE" sz="1200" dirty="0">
                          <a:effectLst/>
                        </a:rPr>
                        <a:t>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Whether to use a random-effects-model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065078"/>
                  </a:ext>
                </a:extLst>
              </a:tr>
              <a:tr h="478169">
                <a:tc>
                  <a:txBody>
                    <a:bodyPr/>
                    <a:lstStyle/>
                    <a:p>
                      <a:pPr algn="l"/>
                      <a:r>
                        <a:rPr lang="de-DE" sz="1200">
                          <a:effectLst/>
                        </a:rPr>
                        <a:t>prediction=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Whether to print a prediction interval for the effect of future studies based on present evidence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21128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 algn="l"/>
                      <a:r>
                        <a:rPr lang="de-DE" sz="1200">
                          <a:effectLst/>
                        </a:rPr>
                        <a:t>sm=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The summary measure we want to calculate. We can either calculate the mean difference (MD) or Hedges’ g (SMD) 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46424"/>
                  </a:ext>
                </a:extLst>
              </a:tr>
            </a:tbl>
          </a:graphicData>
        </a:graphic>
      </p:graphicFrame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3364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package – function ‘</a:t>
            </a:r>
            <a:r>
              <a:rPr lang="en-US" dirty="0" err="1"/>
              <a:t>metacont</a:t>
            </a:r>
            <a:r>
              <a:rPr lang="en-US" dirty="0"/>
              <a:t>’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 &lt;-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metacont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(Ne,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Se,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     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studlab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paste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(m,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="Maximum % fall in FEV1")</a:t>
            </a:r>
          </a:p>
          <a:p>
            <a:pPr marL="0" indent="0">
              <a:buNone/>
            </a:pPr>
            <a:r>
              <a:rPr lang="de-DE" dirty="0" err="1"/>
              <a:t>Subgroup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:</a:t>
            </a:r>
          </a:p>
          <a:p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 &lt;-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metacont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(Ne,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Se,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studlab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paste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subgroup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stratvar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print.byvar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=FALSE)</a:t>
            </a:r>
          </a:p>
          <a:p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(m,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difference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…")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46084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meta</a:t>
            </a:r>
            <a:r>
              <a:rPr lang="de-DE" dirty="0"/>
              <a:t> </a:t>
            </a:r>
            <a:r>
              <a:rPr lang="de-DE" dirty="0" err="1"/>
              <a:t>package</a:t>
            </a:r>
            <a:r>
              <a:rPr lang="de-DE" dirty="0"/>
              <a:t> – meta-regression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Basic </a:t>
            </a:r>
            <a:r>
              <a:rPr lang="de-DE" dirty="0" err="1"/>
              <a:t>idea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subgroup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but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predictors</a:t>
            </a:r>
            <a:r>
              <a:rPr lang="de-DE" dirty="0"/>
              <a:t> (</a:t>
            </a:r>
            <a:r>
              <a:rPr lang="de-DE" dirty="0" err="1"/>
              <a:t>compare</a:t>
            </a:r>
            <a:r>
              <a:rPr lang="de-DE" dirty="0"/>
              <a:t> also: </a:t>
            </a:r>
            <a:r>
              <a:rPr lang="de-DE" dirty="0" err="1"/>
              <a:t>stratification</a:t>
            </a:r>
            <a:r>
              <a:rPr lang="de-DE" dirty="0"/>
              <a:t> vs. multiple linear/</a:t>
            </a:r>
            <a:r>
              <a:rPr lang="de-DE" dirty="0" err="1"/>
              <a:t>logistic</a:t>
            </a:r>
            <a:r>
              <a:rPr lang="de-DE" dirty="0"/>
              <a:t>/Cox </a:t>
            </a:r>
            <a:r>
              <a:rPr lang="de-DE" dirty="0" err="1"/>
              <a:t>regression</a:t>
            </a:r>
            <a:r>
              <a:rPr lang="de-DE" dirty="0"/>
              <a:t>)</a:t>
            </a:r>
          </a:p>
          <a:p>
            <a:r>
              <a:rPr lang="en-US" dirty="0"/>
              <a:t>Each covariate should contain at least ten studies</a:t>
            </a:r>
          </a:p>
          <a:p>
            <a:r>
              <a:rPr lang="en-US" dirty="0"/>
              <a:t>Random effects model + meta-regression </a:t>
            </a:r>
            <a:r>
              <a:rPr lang="en-US" dirty="0">
                <a:sym typeface="Wingdings" panose="05000000000000000000" pitchFamily="2" charset="2"/>
              </a:rPr>
              <a:t> mixed effects model</a:t>
            </a:r>
          </a:p>
          <a:p>
            <a:r>
              <a:rPr lang="en-US" dirty="0">
                <a:sym typeface="Wingdings" panose="05000000000000000000" pitchFamily="2" charset="2"/>
              </a:rPr>
              <a:t>Rely on predefined scientific or theoretical questions </a:t>
            </a:r>
          </a:p>
          <a:p>
            <a:r>
              <a:rPr lang="en-US" dirty="0"/>
              <a:t>Avoid</a:t>
            </a:r>
            <a:r>
              <a:rPr lang="de-DE" dirty="0"/>
              <a:t> </a:t>
            </a:r>
            <a:r>
              <a:rPr lang="en-US" dirty="0"/>
              <a:t>“playing around” until you find </a:t>
            </a:r>
            <a:r>
              <a:rPr lang="en-US" dirty="0" err="1"/>
              <a:t>sth</a:t>
            </a:r>
            <a:r>
              <a:rPr lang="en-US" dirty="0"/>
              <a:t>. significant</a:t>
            </a:r>
            <a:endParaRPr lang="de-DE" dirty="0"/>
          </a:p>
          <a:p>
            <a:r>
              <a:rPr lang="de-DE" dirty="0">
                <a:hlinkClick r:id="rId2"/>
              </a:rPr>
              <a:t>ht</a:t>
            </a:r>
            <a:r>
              <a:rPr lang="de-DE" dirty="0">
                <a:solidFill>
                  <a:srgbClr val="FF0000"/>
                </a:solidFill>
                <a:hlinkClick r:id="rId2"/>
              </a:rPr>
              <a:t>tps://bookdown.org/MathiasHarrer/Doing_Meta_Analysis_in_R/metareg.html</a:t>
            </a:r>
            <a:endParaRPr lang="de-DE" dirty="0">
              <a:solidFill>
                <a:srgbClr val="FF0000"/>
              </a:solidFill>
            </a:endParaRPr>
          </a:p>
          <a:p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49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816936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meta</a:t>
            </a:r>
            <a:r>
              <a:rPr lang="de-DE" dirty="0"/>
              <a:t> </a:t>
            </a:r>
            <a:r>
              <a:rPr lang="de-DE" dirty="0" err="1"/>
              <a:t>package</a:t>
            </a:r>
            <a:r>
              <a:rPr lang="de-DE" dirty="0"/>
              <a:t> – meta-regression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|| 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 &amp;&amp;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(Fleiss93cont)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Add some (fictitious) grouping variables: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Fleiss93cont$age &lt;- c(55, 65, 55, 65, 55)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Fleiss93cont$region &lt;- c("Europe", "Europe", 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"Europe")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m1 &lt;-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metacont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mean.e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sd.e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n.c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mean.c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sd.c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Fleiss93cont,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"MD")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mu2 &lt;- update(m1,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subgroup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tau.common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TRUE,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fixed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FALSE)</a:t>
            </a:r>
          </a:p>
          <a:p>
            <a:pPr marL="0" indent="0">
              <a:buNone/>
            </a:pPr>
            <a:r>
              <a:rPr lang="de-DE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metareg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(mu2) ;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bubble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metareg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(mu2))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metareg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(mu2,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intercept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=FALSE)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mu1 &lt;- update(m1,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byvar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mu1;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(mu1)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metareg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(mu1,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20481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outputs (plots) from the ‘meta’ package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preparation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(Olkin95)</a:t>
            </a:r>
          </a:p>
          <a:p>
            <a:pPr marL="0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m1 &lt;-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metabin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event.e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n.e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event.c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n.c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i-FI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data = Olkin95, subset = c(41, 47, 51, 59),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studlab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paste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"RR",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"I")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51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  <p:sp>
        <p:nvSpPr>
          <p:cNvPr id="6" name="Textfeld 5"/>
          <p:cNvSpPr txBox="1"/>
          <p:nvPr/>
        </p:nvSpPr>
        <p:spPr>
          <a:xfrm>
            <a:off x="544009" y="4780344"/>
            <a:ext cx="54280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Note: </a:t>
            </a:r>
          </a:p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/>
              <a:t>Number of events in experimental group,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/>
              <a:t>Number of observations in experimental group,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/>
              <a:t>Number of events in control group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n.c</a:t>
            </a:r>
            <a:r>
              <a:rPr lang="de-DE" dirty="0"/>
              <a:t> =</a:t>
            </a:r>
            <a:r>
              <a:rPr lang="en-US" dirty="0"/>
              <a:t>Number of observations in control group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73278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output (plot) from the ‘meta’ package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funnel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customizable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probably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widely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ones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graphical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meta-</a:t>
            </a:r>
            <a:r>
              <a:rPr lang="de-DE" dirty="0" err="1"/>
              <a:t>analyses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Basic </a:t>
            </a:r>
            <a:r>
              <a:rPr lang="de-DE" dirty="0" err="1"/>
              <a:t>funnel</a:t>
            </a:r>
            <a:r>
              <a:rPr lang="de-DE" dirty="0"/>
              <a:t> </a:t>
            </a:r>
            <a:r>
              <a:rPr lang="de-DE" dirty="0" err="1"/>
              <a:t>plot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funnel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(m1)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52</a:t>
            </a:fld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737" y="2722969"/>
            <a:ext cx="3912243" cy="390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972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examples using the ‘</a:t>
            </a:r>
            <a:r>
              <a:rPr lang="en-US" dirty="0" err="1"/>
              <a:t>metafor</a:t>
            </a:r>
            <a:r>
              <a:rPr lang="en-US" dirty="0"/>
              <a:t>’ package (I)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(all=TRUE)) #clean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workspace</a:t>
            </a: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metafor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|| 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metafor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 &amp;&amp;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metafor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information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allocation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outcome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tpos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positive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outcome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negative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outcome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cpos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control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positive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outcome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control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negative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outcome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take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look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at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variables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included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#ES &lt;-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escalc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measure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="OR", ai=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tpos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bi=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ci=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cpos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measures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(not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needed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="REML",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measure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="OR", ai=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tpos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bi=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ci=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cpos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#meta-analysis,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random-effects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de-DE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37044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examples using the ‘</a:t>
            </a:r>
            <a:r>
              <a:rPr lang="en-US" dirty="0" err="1"/>
              <a:t>metafor</a:t>
            </a:r>
            <a:r>
              <a:rPr lang="en-US" dirty="0"/>
              <a:t>’ package </a:t>
            </a:r>
            <a:r>
              <a:rPr lang="de-DE" dirty="0"/>
              <a:t>(II)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Meta-regression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mixed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="REML",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measure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="OR", ai=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tpos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bi=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ci=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cpos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di=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cneg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mods</a:t>
            </a:r>
            <a:r>
              <a:rPr lang="de-D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dat.bcg$ablat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notice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„</a:t>
            </a:r>
            <a:r>
              <a:rPr lang="de-DE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mods</a:t>
            </a:r>
            <a:r>
              <a:rPr lang="de-DE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dat.bcg$ablat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“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which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mixed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endParaRPr lang="de-DE" sz="1600" dirty="0"/>
          </a:p>
          <a:p>
            <a:r>
              <a:rPr lang="de-DE" sz="1600" dirty="0" err="1"/>
              <a:t>Funnel</a:t>
            </a:r>
            <a:r>
              <a:rPr lang="de-DE" sz="1600" dirty="0"/>
              <a:t> </a:t>
            </a:r>
            <a:r>
              <a:rPr lang="de-DE" sz="1600" dirty="0" err="1"/>
              <a:t>plot</a:t>
            </a:r>
            <a:r>
              <a:rPr lang="de-DE" sz="1600" dirty="0"/>
              <a:t>, </a:t>
            </a:r>
            <a:r>
              <a:rPr lang="en-US" sz="1600" dirty="0"/>
              <a:t>Egger's regression test &amp; rank correlation test for funnel plot asymmetry: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funnel(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#Random−Effects Model; funnel(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#Mixed−Effects Model;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#Regression Test for Funnel Plot Asymmetry</a:t>
            </a:r>
          </a:p>
          <a:p>
            <a:r>
              <a:rPr lang="de-DE" sz="1600" dirty="0" err="1"/>
              <a:t>Estimated</a:t>
            </a:r>
            <a:r>
              <a:rPr lang="de-DE" sz="1600" dirty="0"/>
              <a:t> </a:t>
            </a:r>
            <a:r>
              <a:rPr lang="de-DE" sz="1600" dirty="0" err="1"/>
              <a:t>influence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publication</a:t>
            </a:r>
            <a:r>
              <a:rPr lang="de-DE" sz="1600" dirty="0"/>
              <a:t> </a:t>
            </a:r>
            <a:r>
              <a:rPr lang="de-DE" sz="1600" dirty="0" err="1"/>
              <a:t>bias</a:t>
            </a:r>
            <a:r>
              <a:rPr lang="de-DE" sz="1600" dirty="0"/>
              <a:t>: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trimfill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1600" dirty="0" err="1"/>
              <a:t>leave</a:t>
            </a:r>
            <a:r>
              <a:rPr lang="de-DE" sz="1600" dirty="0"/>
              <a:t>-</a:t>
            </a:r>
            <a:r>
              <a:rPr lang="de-DE" sz="1600" dirty="0" err="1"/>
              <a:t>one</a:t>
            </a:r>
            <a:r>
              <a:rPr lang="de-DE" sz="1600" dirty="0"/>
              <a:t>-out meta-analysis: 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leave1out(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digits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=3)</a:t>
            </a:r>
          </a:p>
          <a:p>
            <a:r>
              <a:rPr lang="de-DE" sz="1600" dirty="0" err="1"/>
              <a:t>Each</a:t>
            </a:r>
            <a:r>
              <a:rPr lang="de-DE" sz="1600" dirty="0"/>
              <a:t> </a:t>
            </a:r>
            <a:r>
              <a:rPr lang="de-DE" sz="1600" dirty="0" err="1"/>
              <a:t>study‘s</a:t>
            </a:r>
            <a:r>
              <a:rPr lang="de-DE" sz="1600" dirty="0"/>
              <a:t> </a:t>
            </a:r>
            <a:r>
              <a:rPr lang="de-DE" sz="1600" dirty="0" err="1"/>
              <a:t>influence</a:t>
            </a:r>
            <a:r>
              <a:rPr lang="de-DE" sz="1600" dirty="0"/>
              <a:t> on </a:t>
            </a:r>
            <a:r>
              <a:rPr lang="de-DE" sz="1600" dirty="0" err="1"/>
              <a:t>heterogeneity</a:t>
            </a:r>
            <a:r>
              <a:rPr lang="de-DE" sz="1600" dirty="0"/>
              <a:t>: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baujat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1600" dirty="0"/>
              <a:t>normal QQ-Plots: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qqnorm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="Q-Q normal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de-DE" sz="1600" dirty="0" err="1"/>
              <a:t>Cumulative</a:t>
            </a:r>
            <a:r>
              <a:rPr lang="de-DE" sz="1600" dirty="0"/>
              <a:t> meta-analysis: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cumul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dat.bcg$year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endParaRPr 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88296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examples using the ‘</a:t>
            </a:r>
            <a:r>
              <a:rPr lang="en-US" dirty="0" err="1"/>
              <a:t>metafor</a:t>
            </a:r>
            <a:r>
              <a:rPr lang="en-US" dirty="0"/>
              <a:t>’ package (III)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 err="1"/>
              <a:t>Forest</a:t>
            </a:r>
            <a:r>
              <a:rPr lang="de-DE" sz="2400" dirty="0"/>
              <a:t> </a:t>
            </a:r>
            <a:r>
              <a:rPr lang="de-DE" sz="2400" dirty="0" err="1"/>
              <a:t>plots</a:t>
            </a:r>
            <a:r>
              <a:rPr lang="de-DE" sz="2400" dirty="0"/>
              <a:t>:</a:t>
            </a:r>
          </a:p>
          <a:p>
            <a:pPr marL="0" indent="0">
              <a:buNone/>
            </a:pP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#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log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scale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on x-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  <a:endParaRPr 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refline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=1) #linear x-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i.e. non-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symmetrical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confidence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intervals</a:t>
            </a:r>
            <a:endParaRPr 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addcred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=T) #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95%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credibility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endParaRPr 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 #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precise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least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precise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study</a:t>
            </a:r>
            <a:endParaRPr 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cumul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dat.bcg$year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))) #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cumulative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meta-analysis,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ordered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pooled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estimates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after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adding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studies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slab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paste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dat.bcg$author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dat.bcg$year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#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publication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endParaRPr 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slab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paste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dat.bcg$author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dat.bcg$year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showweights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=TRUE) #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each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study</a:t>
            </a:r>
            <a:endParaRPr 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Subgroup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analysis</a:t>
            </a:r>
            <a:r>
              <a:rPr 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sz="1400" dirty="0" err="1"/>
              <a:t>see</a:t>
            </a:r>
            <a:r>
              <a:rPr lang="de-DE" sz="1400" dirty="0"/>
              <a:t> </a:t>
            </a:r>
            <a:r>
              <a:rPr lang="de-DE" sz="1400" dirty="0" err="1"/>
              <a:t>helpage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function</a:t>
            </a:r>
            <a:r>
              <a:rPr lang="de-DE" sz="1400" dirty="0"/>
              <a:t> </a:t>
            </a:r>
            <a:r>
              <a:rPr lang="de-DE" sz="1400" dirty="0" err="1"/>
              <a:t>forest.rma</a:t>
            </a:r>
            <a:r>
              <a:rPr lang="de-DE" sz="1400" dirty="0"/>
              <a:t>, </a:t>
            </a:r>
            <a:r>
              <a:rPr lang="de-DE" sz="1400" dirty="0" err="1"/>
              <a:t>section</a:t>
            </a:r>
            <a:r>
              <a:rPr lang="de-DE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### forest plot with subgrouping of studies</a:t>
            </a:r>
            <a:endParaRPr 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35276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metafor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6" t="18460" r="656" b="4159"/>
          <a:stretch/>
        </p:blipFill>
        <p:spPr>
          <a:xfrm>
            <a:off x="1524000" y="1390651"/>
            <a:ext cx="5514975" cy="4261176"/>
          </a:xfrm>
        </p:spPr>
      </p:pic>
      <p:sp>
        <p:nvSpPr>
          <p:cNvPr id="5" name="Textfeld 4"/>
          <p:cNvSpPr txBox="1"/>
          <p:nvPr/>
        </p:nvSpPr>
        <p:spPr>
          <a:xfrm>
            <a:off x="180975" y="5819423"/>
            <a:ext cx="9071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slab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paste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dat.bcg$author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dat.bcg$year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showweights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86039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metafor</a:t>
            </a:r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304800" y="5819423"/>
            <a:ext cx="652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cumul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dat.bcg$year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  <p:pic>
        <p:nvPicPr>
          <p:cNvPr id="8" name="Inhaltsplatzhalter 7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2" t="21305" r="3681" b="5363"/>
          <a:stretch/>
        </p:blipFill>
        <p:spPr>
          <a:xfrm>
            <a:off x="2171699" y="2123213"/>
            <a:ext cx="4553192" cy="3588986"/>
          </a:xfrm>
        </p:spPr>
      </p:pic>
      <p:sp>
        <p:nvSpPr>
          <p:cNvPr id="9" name="Textfeld 8"/>
          <p:cNvSpPr txBox="1"/>
          <p:nvPr/>
        </p:nvSpPr>
        <p:spPr>
          <a:xfrm>
            <a:off x="447675" y="1690689"/>
            <a:ext cx="2644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Cumulative</a:t>
            </a:r>
            <a:r>
              <a:rPr lang="de-DE" dirty="0"/>
              <a:t> meta-analysis:</a:t>
            </a:r>
          </a:p>
        </p:txBody>
      </p:sp>
    </p:spTree>
    <p:extLst>
      <p:ext uri="{BB962C8B-B14F-4D97-AF65-F5344CB8AC3E}">
        <p14:creationId xmlns:p14="http://schemas.microsoft.com/office/powerpoint/2010/main" val="18755081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metafor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093" y="1825625"/>
            <a:ext cx="4357813" cy="4351338"/>
          </a:xfrm>
        </p:spPr>
      </p:pic>
      <p:sp>
        <p:nvSpPr>
          <p:cNvPr id="5" name="Textfeld 4"/>
          <p:cNvSpPr txBox="1"/>
          <p:nvPr/>
        </p:nvSpPr>
        <p:spPr>
          <a:xfrm>
            <a:off x="247650" y="644539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funnel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628650" y="1690689"/>
            <a:ext cx="312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Normal, “classical”, funnel plot: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58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73462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Trim-and-fill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117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measure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="RR", ai=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tpos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bi=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tneg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ci=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cpos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di=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cneg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="FE") </a:t>
            </a:r>
          </a:p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res.tf &lt;-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trimfill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layout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(c(1,2),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=2))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funnel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funnel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(res.tf, legend=TRUE,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=1.2)</a:t>
            </a:r>
          </a:p>
          <a:p>
            <a:pPr marL="0" indent="0">
              <a:buNone/>
            </a:pPr>
            <a:endParaRPr lang="de-DE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276226" y="4152899"/>
            <a:ext cx="869632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“The method can be used to </a:t>
            </a:r>
            <a:r>
              <a:rPr lang="en-US" b="1" dirty="0"/>
              <a:t>estimate the number of studies missing</a:t>
            </a:r>
            <a:r>
              <a:rPr lang="en-US" dirty="0"/>
              <a:t> from a meta-analysis </a:t>
            </a:r>
            <a:r>
              <a:rPr lang="en-US" b="1" dirty="0"/>
              <a:t>due to the suppression of the most extreme results on one side</a:t>
            </a:r>
            <a:r>
              <a:rPr lang="en-US" dirty="0"/>
              <a:t> of the funnel plot. The method then augments the observed data so that the funnel plot is more symmetric and </a:t>
            </a:r>
            <a:r>
              <a:rPr lang="en-US" dirty="0" err="1"/>
              <a:t>recomputes</a:t>
            </a:r>
            <a:r>
              <a:rPr lang="en-US" dirty="0"/>
              <a:t> the summary estimate based on the complete data. The trim and fill method can only be used in the context of a fixed- or random-effects model (i.e., in models without moderators). The method </a:t>
            </a:r>
            <a:r>
              <a:rPr lang="en-US" b="1" dirty="0"/>
              <a:t>should not be regarded as a way of yielding a more "valid" estimate</a:t>
            </a:r>
            <a:r>
              <a:rPr lang="en-US" dirty="0"/>
              <a:t> of the overall effect or outcome, but as a </a:t>
            </a:r>
            <a:r>
              <a:rPr lang="en-US" b="1" dirty="0"/>
              <a:t>way of examining the sensitivity of the results</a:t>
            </a:r>
            <a:r>
              <a:rPr lang="en-US" dirty="0"/>
              <a:t> to one particular selection mechanism (i.e., one particular form of publication bias).”  (</a:t>
            </a:r>
            <a:r>
              <a:rPr lang="en-US" dirty="0" err="1"/>
              <a:t>metafor</a:t>
            </a:r>
            <a:r>
              <a:rPr lang="en-US" dirty="0"/>
              <a:t> help page on the function “</a:t>
            </a:r>
            <a:r>
              <a:rPr lang="en-US" dirty="0" err="1"/>
              <a:t>trimfill</a:t>
            </a:r>
            <a:r>
              <a:rPr lang="en-US" dirty="0"/>
              <a:t>”)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1404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33" y="552450"/>
            <a:ext cx="8123491" cy="5751761"/>
          </a:xfrm>
          <a:prstGeom prst="rect">
            <a:avLst/>
          </a:prstGeom>
        </p:spPr>
      </p:pic>
      <p:sp>
        <p:nvSpPr>
          <p:cNvPr id="7" name="Textfeld 6"/>
          <p:cNvSpPr txBox="1"/>
          <p:nvPr/>
        </p:nvSpPr>
        <p:spPr>
          <a:xfrm>
            <a:off x="534733" y="367784"/>
            <a:ext cx="2470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Trim-and-fill funnel plot: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33121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1" y="964595"/>
            <a:ext cx="9144000" cy="4923692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90550" y="597822"/>
            <a:ext cx="5038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Comparison of original and trim-and-fill funnel plot: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  <p:sp>
        <p:nvSpPr>
          <p:cNvPr id="6" name="Ellipse 5"/>
          <p:cNvSpPr/>
          <p:nvPr/>
        </p:nvSpPr>
        <p:spPr>
          <a:xfrm>
            <a:off x="8326538" y="3761773"/>
            <a:ext cx="188812" cy="19676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4678081" y="5885727"/>
            <a:ext cx="3837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unpublished</a:t>
            </a:r>
            <a:r>
              <a:rPr lang="de-DE" dirty="0"/>
              <a:t> </a:t>
            </a:r>
            <a:r>
              <a:rPr lang="en-US" dirty="0"/>
              <a:t>“</a:t>
            </a:r>
            <a:r>
              <a:rPr lang="de-DE" dirty="0" err="1"/>
              <a:t>mirror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en-US" dirty="0"/>
              <a:t>”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study</a:t>
            </a:r>
            <a:endParaRPr lang="de-DE" dirty="0"/>
          </a:p>
        </p:txBody>
      </p:sp>
      <p:cxnSp>
        <p:nvCxnSpPr>
          <p:cNvPr id="9" name="Gerade Verbindung mit Pfeil 8"/>
          <p:cNvCxnSpPr/>
          <p:nvPr/>
        </p:nvCxnSpPr>
        <p:spPr>
          <a:xfrm flipV="1">
            <a:off x="6596715" y="3958542"/>
            <a:ext cx="1729823" cy="1927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3595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Further </a:t>
            </a:r>
            <a:r>
              <a:rPr lang="de-DE" dirty="0" err="1"/>
              <a:t>notes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2000" dirty="0" err="1"/>
              <a:t>Creates</a:t>
            </a:r>
            <a:r>
              <a:rPr lang="de-DE" sz="2000" dirty="0"/>
              <a:t> a 4-in-1 </a:t>
            </a:r>
            <a:r>
              <a:rPr lang="de-DE" sz="2000" dirty="0" err="1"/>
              <a:t>plot</a:t>
            </a:r>
            <a:r>
              <a:rPr lang="de-DE" sz="2000" dirty="0"/>
              <a:t> </a:t>
            </a:r>
            <a:r>
              <a:rPr lang="de-DE" sz="2000" dirty="0" err="1"/>
              <a:t>comprising</a:t>
            </a:r>
            <a:r>
              <a:rPr lang="de-DE" sz="2000" dirty="0"/>
              <a:t> a </a:t>
            </a:r>
            <a:r>
              <a:rPr lang="de-DE" sz="2000" dirty="0" err="1"/>
              <a:t>forest</a:t>
            </a:r>
            <a:r>
              <a:rPr lang="de-DE" sz="2000" dirty="0"/>
              <a:t> </a:t>
            </a:r>
            <a:r>
              <a:rPr lang="de-DE" sz="2000" dirty="0" err="1"/>
              <a:t>plot</a:t>
            </a:r>
            <a:r>
              <a:rPr lang="de-DE" sz="2000" dirty="0"/>
              <a:t>, </a:t>
            </a:r>
            <a:r>
              <a:rPr lang="de-DE" sz="2000" dirty="0" err="1"/>
              <a:t>funnel</a:t>
            </a:r>
            <a:r>
              <a:rPr lang="de-DE" sz="2000" dirty="0"/>
              <a:t> </a:t>
            </a:r>
            <a:r>
              <a:rPr lang="de-DE" sz="2000" dirty="0" err="1"/>
              <a:t>plot</a:t>
            </a:r>
            <a:r>
              <a:rPr lang="de-DE" sz="2000" dirty="0"/>
              <a:t>, radial </a:t>
            </a:r>
            <a:r>
              <a:rPr lang="de-DE" sz="2000" dirty="0" err="1"/>
              <a:t>plot</a:t>
            </a:r>
            <a:r>
              <a:rPr lang="de-DE" sz="2000" dirty="0"/>
              <a:t>, </a:t>
            </a:r>
            <a:r>
              <a:rPr lang="de-DE" sz="2000" dirty="0" err="1"/>
              <a:t>and</a:t>
            </a:r>
            <a:r>
              <a:rPr lang="de-DE" sz="2000" dirty="0"/>
              <a:t> </a:t>
            </a:r>
            <a:r>
              <a:rPr lang="de-DE" sz="2000" dirty="0" err="1"/>
              <a:t>standardized</a:t>
            </a:r>
            <a:r>
              <a:rPr lang="de-DE" sz="2000" dirty="0"/>
              <a:t> </a:t>
            </a:r>
            <a:r>
              <a:rPr lang="de-DE" sz="2000" dirty="0" err="1"/>
              <a:t>residuals</a:t>
            </a:r>
            <a:endParaRPr lang="de-DE" sz="2000" dirty="0"/>
          </a:p>
          <a:p>
            <a:r>
              <a:rPr lang="de-DE" sz="2000" dirty="0" err="1"/>
              <a:t>Less</a:t>
            </a:r>
            <a:r>
              <a:rPr lang="de-DE" sz="2000" dirty="0"/>
              <a:t> versatile </a:t>
            </a:r>
            <a:r>
              <a:rPr lang="de-DE" sz="2000" dirty="0" err="1"/>
              <a:t>than</a:t>
            </a:r>
            <a:r>
              <a:rPr lang="de-DE" sz="2000" dirty="0"/>
              <a:t> individual </a:t>
            </a:r>
            <a:r>
              <a:rPr lang="de-DE" sz="2000" dirty="0" err="1"/>
              <a:t>functions</a:t>
            </a:r>
            <a:r>
              <a:rPr lang="de-DE" sz="2000" dirty="0"/>
              <a:t> </a:t>
            </a:r>
            <a:r>
              <a:rPr lang="de-DE" sz="2000" dirty="0" err="1"/>
              <a:t>regarding</a:t>
            </a:r>
            <a:r>
              <a:rPr lang="de-DE" sz="2000" dirty="0"/>
              <a:t> </a:t>
            </a:r>
            <a:r>
              <a:rPr lang="de-DE" sz="2000" dirty="0" err="1"/>
              <a:t>customizations</a:t>
            </a:r>
            <a:r>
              <a:rPr lang="de-DE" sz="2000" dirty="0"/>
              <a:t>, but </a:t>
            </a:r>
            <a:r>
              <a:rPr lang="de-DE" sz="2000" dirty="0" err="1"/>
              <a:t>gives</a:t>
            </a:r>
            <a:r>
              <a:rPr lang="de-DE" sz="2000" dirty="0"/>
              <a:t> a </a:t>
            </a:r>
            <a:r>
              <a:rPr lang="de-DE" sz="2000" dirty="0" err="1"/>
              <a:t>good</a:t>
            </a:r>
            <a:r>
              <a:rPr lang="de-DE" sz="2000" dirty="0"/>
              <a:t> </a:t>
            </a:r>
            <a:r>
              <a:rPr lang="de-DE" sz="2000" dirty="0" err="1"/>
              <a:t>first</a:t>
            </a:r>
            <a:r>
              <a:rPr lang="de-DE" sz="2000" dirty="0"/>
              <a:t> </a:t>
            </a:r>
            <a:r>
              <a:rPr lang="de-DE" sz="2000" dirty="0" err="1"/>
              <a:t>impression</a:t>
            </a:r>
            <a:endParaRPr lang="de-DE" sz="2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72096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976" y="996688"/>
            <a:ext cx="5741256" cy="5732725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>
          <a:xfrm>
            <a:off x="923352" y="510659"/>
            <a:ext cx="2577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>
                <a:cs typeface="Courier New" panose="02070309020205020404" pitchFamily="49" charset="0"/>
              </a:rPr>
              <a:t>Result</a:t>
            </a:r>
            <a:r>
              <a:rPr lang="de-DE" dirty="0">
                <a:cs typeface="Courier New" panose="02070309020205020404" pitchFamily="49" charset="0"/>
              </a:rPr>
              <a:t> </a:t>
            </a:r>
            <a:r>
              <a:rPr lang="de-DE" dirty="0" err="1">
                <a:cs typeface="Courier New" panose="02070309020205020404" pitchFamily="49" charset="0"/>
              </a:rPr>
              <a:t>of</a:t>
            </a:r>
            <a:r>
              <a:rPr lang="de-DE" dirty="0"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DE" dirty="0"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45437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the “method” used with </a:t>
            </a:r>
            <a:r>
              <a:rPr lang="de-DE" dirty="0" err="1"/>
              <a:t>rma.uni</a:t>
            </a:r>
            <a:r>
              <a:rPr lang="de-DE" dirty="0"/>
              <a:t>() in </a:t>
            </a:r>
            <a:r>
              <a:rPr lang="de-DE" dirty="0" err="1"/>
              <a:t>metafor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rma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measure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="RR", ai=</a:t>
            </a:r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tpos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, bi=</a:t>
            </a:r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tneg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, ci=</a:t>
            </a:r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cpos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, di=</a:t>
            </a:r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cneg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dat.bcg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de-DE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="FE"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) #</a:t>
            </a:r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fixed</a:t>
            </a:r>
            <a:r>
              <a:rPr lang="de-DE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effects</a:t>
            </a:r>
            <a:endParaRPr lang="de-DE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2400" dirty="0"/>
              <a:t>…, </a:t>
            </a:r>
            <a:r>
              <a:rPr lang="de-DE" sz="2400" dirty="0" err="1"/>
              <a:t>method</a:t>
            </a:r>
            <a:r>
              <a:rPr lang="de-DE" sz="2400" dirty="0"/>
              <a:t>="DL") #</a:t>
            </a:r>
            <a:r>
              <a:rPr lang="de-DE" sz="2400" dirty="0" err="1"/>
              <a:t>DerSimonian</a:t>
            </a:r>
            <a:r>
              <a:rPr lang="de-DE" sz="2400" dirty="0"/>
              <a:t>-Laird </a:t>
            </a:r>
            <a:r>
              <a:rPr lang="de-DE" sz="2400" dirty="0" err="1"/>
              <a:t>estimator</a:t>
            </a:r>
            <a:endParaRPr lang="de-DE" sz="2400" dirty="0"/>
          </a:p>
          <a:p>
            <a:r>
              <a:rPr lang="de-DE" sz="2400" dirty="0"/>
              <a:t>"HE" = </a:t>
            </a:r>
            <a:r>
              <a:rPr lang="de-DE" sz="2400" dirty="0" err="1"/>
              <a:t>Hedges</a:t>
            </a:r>
            <a:r>
              <a:rPr lang="de-DE" sz="2400" dirty="0"/>
              <a:t> </a:t>
            </a:r>
            <a:r>
              <a:rPr lang="de-DE" sz="2400" dirty="0" err="1"/>
              <a:t>estimator</a:t>
            </a:r>
            <a:r>
              <a:rPr lang="de-DE" sz="2400" dirty="0"/>
              <a:t> </a:t>
            </a:r>
          </a:p>
          <a:p>
            <a:r>
              <a:rPr lang="de-DE" sz="2400" dirty="0"/>
              <a:t>"HS" = Hunter-Schmidt </a:t>
            </a:r>
            <a:r>
              <a:rPr lang="de-DE" sz="2400" dirty="0" err="1"/>
              <a:t>estimator</a:t>
            </a:r>
            <a:r>
              <a:rPr lang="de-DE" sz="2400" dirty="0"/>
              <a:t> </a:t>
            </a:r>
          </a:p>
          <a:p>
            <a:r>
              <a:rPr lang="de-DE" sz="2400" dirty="0"/>
              <a:t>"SJ" = </a:t>
            </a:r>
            <a:r>
              <a:rPr lang="de-DE" sz="2400" dirty="0" err="1"/>
              <a:t>Sidik-Jonkman</a:t>
            </a:r>
            <a:r>
              <a:rPr lang="de-DE" sz="2400" dirty="0"/>
              <a:t> </a:t>
            </a:r>
            <a:r>
              <a:rPr lang="de-DE" sz="2400" dirty="0" err="1"/>
              <a:t>estimator</a:t>
            </a:r>
            <a:r>
              <a:rPr lang="de-DE" sz="2400" dirty="0"/>
              <a:t> </a:t>
            </a:r>
          </a:p>
          <a:p>
            <a:r>
              <a:rPr lang="de-DE" sz="2400" dirty="0"/>
              <a:t>"ML" = </a:t>
            </a:r>
            <a:r>
              <a:rPr lang="de-DE" sz="2400" dirty="0" err="1"/>
              <a:t>maximum-likelihood</a:t>
            </a:r>
            <a:r>
              <a:rPr lang="de-DE" sz="2400" dirty="0"/>
              <a:t> </a:t>
            </a:r>
            <a:r>
              <a:rPr lang="de-DE" sz="2400" dirty="0" err="1"/>
              <a:t>estimator</a:t>
            </a:r>
            <a:r>
              <a:rPr lang="de-DE" sz="2400" dirty="0"/>
              <a:t> </a:t>
            </a:r>
          </a:p>
          <a:p>
            <a:r>
              <a:rPr lang="de-DE" sz="2400" dirty="0"/>
              <a:t>"REML" = </a:t>
            </a:r>
            <a:r>
              <a:rPr lang="de-DE" sz="2400" dirty="0" err="1"/>
              <a:t>restricted</a:t>
            </a:r>
            <a:r>
              <a:rPr lang="de-DE" sz="2400" dirty="0"/>
              <a:t> </a:t>
            </a:r>
            <a:r>
              <a:rPr lang="de-DE" sz="2400" dirty="0" err="1"/>
              <a:t>maximum-likelihood</a:t>
            </a:r>
            <a:r>
              <a:rPr lang="de-DE" sz="2400" dirty="0"/>
              <a:t> </a:t>
            </a:r>
            <a:r>
              <a:rPr lang="de-DE" sz="2400" dirty="0" err="1"/>
              <a:t>estimator</a:t>
            </a:r>
            <a:r>
              <a:rPr lang="de-DE" sz="2400" dirty="0"/>
              <a:t> </a:t>
            </a:r>
          </a:p>
          <a:p>
            <a:r>
              <a:rPr lang="de-DE" sz="2400" dirty="0"/>
              <a:t>"EB" = </a:t>
            </a:r>
            <a:r>
              <a:rPr lang="de-DE" sz="2400" dirty="0" err="1"/>
              <a:t>empirical</a:t>
            </a:r>
            <a:r>
              <a:rPr lang="de-DE" sz="2400" dirty="0"/>
              <a:t> </a:t>
            </a:r>
            <a:r>
              <a:rPr lang="de-DE" sz="2400" dirty="0" err="1"/>
              <a:t>Bayes</a:t>
            </a:r>
            <a:r>
              <a:rPr lang="de-DE" sz="2400" dirty="0"/>
              <a:t> </a:t>
            </a:r>
            <a:r>
              <a:rPr lang="de-DE" sz="2400" dirty="0" err="1"/>
              <a:t>estimator</a:t>
            </a:r>
            <a:r>
              <a:rPr lang="de-DE" sz="2400" dirty="0"/>
              <a:t> </a:t>
            </a:r>
          </a:p>
          <a:p>
            <a:r>
              <a:rPr lang="de-DE" sz="2400" dirty="0"/>
              <a:t>"PM" = Paule-Mandel </a:t>
            </a:r>
            <a:r>
              <a:rPr lang="de-DE" sz="2400" dirty="0" err="1"/>
              <a:t>estimator</a:t>
            </a:r>
            <a:r>
              <a:rPr lang="de-DE" sz="2400" dirty="0"/>
              <a:t> </a:t>
            </a:r>
          </a:p>
          <a:p>
            <a:r>
              <a:rPr lang="de-DE" sz="2400" dirty="0"/>
              <a:t>"GENQ" = </a:t>
            </a:r>
            <a:r>
              <a:rPr lang="de-DE" sz="2400" dirty="0" err="1"/>
              <a:t>generalized</a:t>
            </a:r>
            <a:r>
              <a:rPr lang="de-DE" sz="2400" dirty="0"/>
              <a:t> Q-</a:t>
            </a:r>
            <a:r>
              <a:rPr lang="de-DE" sz="2400" dirty="0" err="1"/>
              <a:t>statistic</a:t>
            </a:r>
            <a:r>
              <a:rPr lang="de-DE" sz="2400" dirty="0"/>
              <a:t> </a:t>
            </a:r>
            <a:r>
              <a:rPr lang="de-DE" sz="2400" dirty="0" err="1"/>
              <a:t>estimator</a:t>
            </a:r>
            <a:endParaRPr lang="de-DE" sz="2400" dirty="0"/>
          </a:p>
          <a:p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94056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the “method” used with </a:t>
            </a:r>
            <a:r>
              <a:rPr lang="de-DE" dirty="0" err="1"/>
              <a:t>rma.uni</a:t>
            </a:r>
            <a:r>
              <a:rPr lang="de-DE" dirty="0"/>
              <a:t>() in </a:t>
            </a:r>
            <a:r>
              <a:rPr lang="de-DE" dirty="0" err="1"/>
              <a:t>metafor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Details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found</a:t>
            </a:r>
            <a:r>
              <a:rPr lang="de-DE" sz="2400" dirty="0"/>
              <a:t> in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help</a:t>
            </a:r>
            <a:r>
              <a:rPr lang="de-DE" sz="2400" dirty="0"/>
              <a:t> </a:t>
            </a:r>
            <a:r>
              <a:rPr lang="de-DE" sz="2400" dirty="0" err="1"/>
              <a:t>page</a:t>
            </a:r>
            <a:r>
              <a:rPr lang="de-DE" sz="2400" dirty="0"/>
              <a:t> (</a:t>
            </a:r>
            <a:r>
              <a:rPr lang="de-DE" sz="2400" dirty="0">
                <a:hlinkClick r:id="rId2"/>
              </a:rPr>
              <a:t>http://127.0.0.1:31466/library/metafor/html/rma.uni.html</a:t>
            </a:r>
            <a:r>
              <a:rPr lang="de-DE" sz="2400" dirty="0"/>
              <a:t>)</a:t>
            </a:r>
          </a:p>
          <a:p>
            <a:r>
              <a:rPr lang="de-DE" sz="2400" dirty="0" err="1"/>
              <a:t>Results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fixed-effects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quite</a:t>
            </a:r>
            <a:r>
              <a:rPr lang="de-DE" sz="2400" dirty="0"/>
              <a:t> different </a:t>
            </a:r>
            <a:r>
              <a:rPr lang="de-DE" sz="2400" dirty="0" err="1"/>
              <a:t>compared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random-effects</a:t>
            </a:r>
            <a:r>
              <a:rPr lang="de-DE" sz="2400" dirty="0"/>
              <a:t> </a:t>
            </a:r>
            <a:r>
              <a:rPr lang="de-DE" sz="2400" dirty="0" err="1"/>
              <a:t>models</a:t>
            </a:r>
            <a:endParaRPr lang="de-DE" sz="2400" dirty="0"/>
          </a:p>
          <a:p>
            <a:r>
              <a:rPr lang="de-DE" sz="2400" dirty="0" err="1"/>
              <a:t>Reuslts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various</a:t>
            </a:r>
            <a:r>
              <a:rPr lang="de-DE" sz="2400" dirty="0"/>
              <a:t> </a:t>
            </a:r>
            <a:r>
              <a:rPr lang="de-DE" sz="2400" dirty="0" err="1"/>
              <a:t>random-effects</a:t>
            </a:r>
            <a:r>
              <a:rPr lang="de-DE" sz="2400" dirty="0"/>
              <a:t> </a:t>
            </a:r>
            <a:r>
              <a:rPr lang="de-DE" sz="2400" dirty="0" err="1"/>
              <a:t>models</a:t>
            </a:r>
            <a:r>
              <a:rPr lang="de-DE" sz="2400" dirty="0"/>
              <a:t> </a:t>
            </a:r>
            <a:r>
              <a:rPr lang="de-DE" sz="2400" dirty="0" err="1"/>
              <a:t>are</a:t>
            </a:r>
            <a:r>
              <a:rPr lang="de-DE" sz="2400" dirty="0"/>
              <a:t> </a:t>
            </a:r>
            <a:r>
              <a:rPr lang="de-DE" sz="2400" dirty="0" err="1"/>
              <a:t>typically</a:t>
            </a:r>
            <a:r>
              <a:rPr lang="de-DE" sz="2400" dirty="0"/>
              <a:t> </a:t>
            </a:r>
            <a:r>
              <a:rPr lang="de-DE" sz="2400" dirty="0" err="1"/>
              <a:t>very</a:t>
            </a:r>
            <a:r>
              <a:rPr lang="de-DE" sz="2400" dirty="0"/>
              <a:t> </a:t>
            </a:r>
            <a:r>
              <a:rPr lang="de-DE" sz="2400" dirty="0" err="1"/>
              <a:t>similar</a:t>
            </a:r>
            <a:endParaRPr lang="de-DE" sz="2400" dirty="0"/>
          </a:p>
          <a:p>
            <a:r>
              <a:rPr lang="de-DE" sz="2400" dirty="0" err="1"/>
              <a:t>Restricted</a:t>
            </a:r>
            <a:r>
              <a:rPr lang="de-DE" sz="2400" dirty="0"/>
              <a:t> </a:t>
            </a:r>
            <a:r>
              <a:rPr lang="de-DE" sz="2400" dirty="0" err="1"/>
              <a:t>maximum</a:t>
            </a:r>
            <a:r>
              <a:rPr lang="de-DE" sz="2400" dirty="0"/>
              <a:t> </a:t>
            </a:r>
            <a:r>
              <a:rPr lang="de-DE" sz="2400" dirty="0" err="1"/>
              <a:t>likelihood</a:t>
            </a:r>
            <a:r>
              <a:rPr lang="de-DE" sz="2400" dirty="0"/>
              <a:t> </a:t>
            </a:r>
            <a:r>
              <a:rPr lang="de-DE" sz="2400" dirty="0" err="1"/>
              <a:t>estimator</a:t>
            </a:r>
            <a:r>
              <a:rPr lang="de-DE" sz="2400" dirty="0"/>
              <a:t> (REML) </a:t>
            </a:r>
            <a:r>
              <a:rPr lang="de-DE" sz="2400" dirty="0" err="1"/>
              <a:t>and</a:t>
            </a:r>
            <a:r>
              <a:rPr lang="de-DE" sz="2400" dirty="0"/>
              <a:t> </a:t>
            </a:r>
            <a:r>
              <a:rPr lang="de-DE" sz="2400" dirty="0" err="1"/>
              <a:t>DerSimonian</a:t>
            </a:r>
            <a:r>
              <a:rPr lang="de-DE" sz="2400" dirty="0"/>
              <a:t>-Laird (DL) </a:t>
            </a:r>
            <a:r>
              <a:rPr lang="de-DE" sz="2400" dirty="0" err="1"/>
              <a:t>are</a:t>
            </a:r>
            <a:r>
              <a:rPr lang="de-DE" sz="2400" dirty="0"/>
              <a:t> </a:t>
            </a:r>
            <a:r>
              <a:rPr lang="de-DE" sz="2400" dirty="0" err="1"/>
              <a:t>frequently</a:t>
            </a:r>
            <a:r>
              <a:rPr lang="de-DE" sz="2400" dirty="0"/>
              <a:t> </a:t>
            </a:r>
            <a:r>
              <a:rPr lang="de-DE" sz="2400" dirty="0" err="1"/>
              <a:t>used</a:t>
            </a:r>
            <a:endParaRPr lang="de-DE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0870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Meta-analysis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RR (</a:t>
            </a:r>
            <a:r>
              <a:rPr lang="de-DE" dirty="0" err="1"/>
              <a:t>or</a:t>
            </a:r>
            <a:r>
              <a:rPr lang="de-DE" dirty="0"/>
              <a:t> OR) and </a:t>
            </a:r>
            <a:r>
              <a:rPr lang="de-DE" dirty="0" err="1"/>
              <a:t>confidence</a:t>
            </a:r>
            <a:r>
              <a:rPr lang="de-DE" dirty="0"/>
              <a:t> </a:t>
            </a:r>
            <a:r>
              <a:rPr lang="de-DE" dirty="0" err="1"/>
              <a:t>intervals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known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652000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data2 &lt;-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matrix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=13,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=0)) #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columns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will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added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subsequently</a:t>
            </a:r>
            <a:endParaRPr lang="de-DE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data2$Study &lt;- LETTERS[1:13] #just an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example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better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real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here</a:t>
            </a:r>
            <a:endParaRPr lang="de-DE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data2$rr &lt;- c(0.1952, 0.1890, 0.2331, 0.2463, 0.2500, 0.3911, 0.3836, 0.6239, 0.7112, 0.8032, 0.9828, 1.0121, 1.5630)</a:t>
            </a: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data2$lcl &lt;- c(0.0774, 0.0797, 0.1766, 0.1450, 0.0707, 0.1280, 0.3272, 0.3917, 0.5717, 0.5155, 0.5821, 0.8946, 0.3740)</a:t>
            </a: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data2$ucl &lt;- c(0.4925, 0.4482, 0.3075, 0.4182, 0.8838, 1.1950, 0.4497, 0.9939, 0.8847, 1.2515, 1.6593, 1.1450, 6.5331)</a:t>
            </a: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log(RR) and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its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standard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SElog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(RR):</a:t>
            </a: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data2$log.rr &lt;- log(data2$rr)</a:t>
            </a: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data2$se.log.rr &lt;- (log(data2$ucl) - log(data2$lcl)) / (2*1.96)</a:t>
            </a: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#Meta-analysis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metagen-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generic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meta-analysis):</a:t>
            </a: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ma2 &lt;-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metagen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(TE =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log.rr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seTE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se.log.rr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studlab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Study,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data2,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"RR")</a:t>
            </a:r>
          </a:p>
          <a:p>
            <a:pPr marL="0" indent="0">
              <a:buNone/>
            </a:pP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(ma2) #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endParaRPr lang="de-DE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#See also: https://training.cochrane.org/handbook/current/chapter-06#section-6-3-1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T. Niedermaier - Systematic reviews and meta-analysis in R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60922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Take-</a:t>
            </a:r>
            <a:r>
              <a:rPr lang="de-DE" dirty="0" err="1"/>
              <a:t>home</a:t>
            </a:r>
            <a:r>
              <a:rPr lang="de-DE" dirty="0"/>
              <a:t> </a:t>
            </a:r>
            <a:r>
              <a:rPr lang="de-DE" dirty="0" err="1"/>
              <a:t>messages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Follow best-practice when conducting systematic reviews (specify review question, in-/exclusion criteria, search strategy) and meta-analyses (select adequate model, consider heterogeneity, possible bias when pooling observational studies, publication bias)</a:t>
            </a:r>
          </a:p>
          <a:p>
            <a:r>
              <a:rPr lang="en-US" dirty="0"/>
              <a:t>Even a perfect analysis plan and adequate methods cannot compensate poor data/biased individual studies (“garbage in – garbage out”)</a:t>
            </a:r>
          </a:p>
          <a:p>
            <a:r>
              <a:rPr lang="en-US" dirty="0"/>
              <a:t>My advice: spend some time in finding an interesting and novel research question instead of replicating or updating existing meta-analyses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67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27579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542925"/>
            <a:ext cx="7886700" cy="5634038"/>
          </a:xfrm>
        </p:spPr>
        <p:txBody>
          <a:bodyPr>
            <a:normAutofit fontScale="92500" lnSpcReduction="10000"/>
          </a:bodyPr>
          <a:lstStyle/>
          <a:p>
            <a:endParaRPr lang="de-DE" dirty="0"/>
          </a:p>
          <a:p>
            <a:pPr marL="0" indent="0" algn="ctr">
              <a:buNone/>
            </a:pPr>
            <a:endParaRPr lang="de-DE" b="1" dirty="0"/>
          </a:p>
          <a:p>
            <a:pPr marL="0" indent="0" algn="ctr">
              <a:buNone/>
            </a:pPr>
            <a:r>
              <a:rPr lang="de-DE" sz="2600" b="1" dirty="0" err="1"/>
              <a:t>Thank</a:t>
            </a:r>
            <a:r>
              <a:rPr lang="de-DE" sz="2600" b="1" dirty="0"/>
              <a:t> </a:t>
            </a:r>
            <a:r>
              <a:rPr lang="de-DE" sz="2600" b="1" dirty="0" err="1"/>
              <a:t>you</a:t>
            </a:r>
            <a:r>
              <a:rPr lang="de-DE" sz="2600" b="1" dirty="0"/>
              <a:t> </a:t>
            </a:r>
            <a:r>
              <a:rPr lang="de-DE" sz="2600" b="1" dirty="0" err="1"/>
              <a:t>for</a:t>
            </a:r>
            <a:r>
              <a:rPr lang="de-DE" sz="2600" b="1" dirty="0"/>
              <a:t> </a:t>
            </a:r>
            <a:r>
              <a:rPr lang="de-DE" sz="2600" b="1" dirty="0" err="1"/>
              <a:t>your</a:t>
            </a:r>
            <a:r>
              <a:rPr lang="de-DE" sz="2600" b="1" dirty="0"/>
              <a:t> </a:t>
            </a:r>
            <a:r>
              <a:rPr lang="de-DE" sz="2600" b="1" dirty="0" err="1"/>
              <a:t>attention</a:t>
            </a:r>
            <a:r>
              <a:rPr lang="de-DE" sz="2600" b="1" dirty="0"/>
              <a:t>!</a:t>
            </a:r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u="sng" dirty="0" err="1"/>
              <a:t>Acknowledgements</a:t>
            </a:r>
            <a:r>
              <a:rPr lang="de-DE" sz="2000" dirty="0"/>
              <a:t>:</a:t>
            </a:r>
          </a:p>
          <a:p>
            <a:pPr marL="0" indent="0">
              <a:buNone/>
            </a:pPr>
            <a:r>
              <a:rPr lang="de-DE" sz="2000" dirty="0"/>
              <a:t>PD Dr. Christian Stock </a:t>
            </a:r>
            <a:r>
              <a:rPr lang="de-DE" sz="2000" dirty="0" err="1"/>
              <a:t>and</a:t>
            </a:r>
            <a:r>
              <a:rPr lang="de-DE" sz="2000" dirty="0"/>
              <a:t> Dr. Katrin Jensen (IMBI Heidelberg)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many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slides</a:t>
            </a:r>
            <a:r>
              <a:rPr lang="de-DE" sz="2000" dirty="0"/>
              <a:t> </a:t>
            </a:r>
            <a:r>
              <a:rPr lang="de-DE" sz="2000" dirty="0" err="1"/>
              <a:t>used</a:t>
            </a:r>
            <a:r>
              <a:rPr lang="de-DE" sz="2000" dirty="0"/>
              <a:t> </a:t>
            </a:r>
            <a:r>
              <a:rPr lang="de-DE" sz="2000" dirty="0" err="1"/>
              <a:t>here</a:t>
            </a:r>
            <a:r>
              <a:rPr lang="de-DE" sz="2000" dirty="0"/>
              <a:t>.</a:t>
            </a:r>
          </a:p>
          <a:p>
            <a:pPr marL="0" indent="0">
              <a:buNone/>
            </a:pPr>
            <a:r>
              <a:rPr lang="de-DE" sz="2000" u="sng" dirty="0" err="1"/>
              <a:t>Contact</a:t>
            </a:r>
            <a:r>
              <a:rPr lang="de-DE" sz="2000" dirty="0"/>
              <a:t>:</a:t>
            </a:r>
          </a:p>
          <a:p>
            <a:pPr marL="0" indent="0">
              <a:buNone/>
            </a:pPr>
            <a:r>
              <a:rPr lang="de-DE" sz="2000" dirty="0"/>
              <a:t>Dr. Tobias Niedermaier</a:t>
            </a:r>
          </a:p>
          <a:p>
            <a:pPr marL="0" indent="0">
              <a:buNone/>
            </a:pPr>
            <a:r>
              <a:rPr lang="de-DE" sz="2000" dirty="0"/>
              <a:t>Division </a:t>
            </a:r>
            <a:r>
              <a:rPr lang="de-DE" sz="2000" dirty="0" err="1"/>
              <a:t>of</a:t>
            </a:r>
            <a:r>
              <a:rPr lang="de-DE" sz="2000" dirty="0"/>
              <a:t> Clinical </a:t>
            </a:r>
            <a:r>
              <a:rPr lang="de-DE" sz="2000" dirty="0" err="1"/>
              <a:t>Epidemiology</a:t>
            </a:r>
            <a:r>
              <a:rPr lang="de-DE" sz="2000" dirty="0"/>
              <a:t> </a:t>
            </a:r>
            <a:r>
              <a:rPr lang="de-DE" sz="2000" dirty="0" err="1"/>
              <a:t>and</a:t>
            </a:r>
            <a:r>
              <a:rPr lang="de-DE" sz="2000" dirty="0"/>
              <a:t> </a:t>
            </a:r>
            <a:r>
              <a:rPr lang="de-DE" sz="2000" dirty="0" err="1"/>
              <a:t>Aging</a:t>
            </a:r>
            <a:r>
              <a:rPr lang="de-DE" sz="2000" dirty="0"/>
              <a:t> Research</a:t>
            </a:r>
          </a:p>
          <a:p>
            <a:pPr marL="0" indent="0">
              <a:buNone/>
            </a:pPr>
            <a:r>
              <a:rPr lang="de-DE" sz="2000" dirty="0"/>
              <a:t>German Cancer Research Center (DKFZ)</a:t>
            </a:r>
          </a:p>
          <a:p>
            <a:pPr marL="0" indent="0">
              <a:buNone/>
            </a:pPr>
            <a:r>
              <a:rPr lang="de-DE" sz="2000" dirty="0"/>
              <a:t>Im </a:t>
            </a:r>
            <a:r>
              <a:rPr lang="de-DE" sz="2000" dirty="0" err="1"/>
              <a:t>Neuenheimer</a:t>
            </a:r>
            <a:r>
              <a:rPr lang="de-DE" sz="2000" dirty="0"/>
              <a:t> Feld 581</a:t>
            </a:r>
          </a:p>
          <a:p>
            <a:pPr marL="0" indent="0">
              <a:buNone/>
            </a:pPr>
            <a:r>
              <a:rPr lang="de-DE" sz="2000" dirty="0"/>
              <a:t>69120 Heidelberg</a:t>
            </a:r>
          </a:p>
          <a:p>
            <a:pPr marL="0" indent="0">
              <a:buNone/>
            </a:pPr>
            <a:r>
              <a:rPr lang="de-DE" sz="2000" dirty="0"/>
              <a:t>Tel: +49 (0)6221 42 1312</a:t>
            </a:r>
          </a:p>
          <a:p>
            <a:pPr marL="0" indent="0">
              <a:buNone/>
            </a:pPr>
            <a:r>
              <a:rPr lang="de-DE" sz="2000" dirty="0"/>
              <a:t>Email: t.niedermaier@dkfz-heidelberg.de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68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10687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Useful</a:t>
            </a:r>
            <a:r>
              <a:rPr lang="de-DE" dirty="0"/>
              <a:t> R </a:t>
            </a:r>
            <a:r>
              <a:rPr lang="de-DE" dirty="0" err="1"/>
              <a:t>packages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meta-analysis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meta</a:t>
            </a:r>
            <a:endParaRPr lang="de-DE" dirty="0"/>
          </a:p>
          <a:p>
            <a:r>
              <a:rPr lang="de-DE" dirty="0" err="1"/>
              <a:t>metafor</a:t>
            </a:r>
            <a:endParaRPr lang="de-DE" dirty="0"/>
          </a:p>
          <a:p>
            <a:r>
              <a:rPr lang="de-DE" dirty="0" err="1"/>
              <a:t>rmeta</a:t>
            </a:r>
            <a:endParaRPr lang="de-DE" dirty="0"/>
          </a:p>
          <a:p>
            <a:r>
              <a:rPr lang="de-DE" dirty="0" err="1"/>
              <a:t>forestplot</a:t>
            </a:r>
            <a:endParaRPr lang="de-DE" dirty="0"/>
          </a:p>
          <a:p>
            <a:r>
              <a:rPr lang="de-DE" dirty="0" err="1"/>
              <a:t>mada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Check CRAN Task View: Meta-Analysis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packages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certain</a:t>
            </a:r>
            <a:r>
              <a:rPr lang="de-DE" dirty="0"/>
              <a:t> type </a:t>
            </a:r>
            <a:r>
              <a:rPr lang="de-DE" dirty="0" err="1"/>
              <a:t>of</a:t>
            </a:r>
            <a:r>
              <a:rPr lang="de-DE" dirty="0"/>
              <a:t> meta-analysis (uni- </a:t>
            </a:r>
            <a:r>
              <a:rPr lang="de-DE" dirty="0" err="1"/>
              <a:t>or</a:t>
            </a:r>
            <a:r>
              <a:rPr lang="de-DE" dirty="0"/>
              <a:t> multivariate, </a:t>
            </a:r>
            <a:r>
              <a:rPr lang="de-DE" dirty="0" err="1"/>
              <a:t>network</a:t>
            </a:r>
            <a:r>
              <a:rPr lang="de-DE" dirty="0"/>
              <a:t>, individual </a:t>
            </a:r>
            <a:r>
              <a:rPr lang="de-DE" dirty="0" err="1"/>
              <a:t>participant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)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(</a:t>
            </a:r>
            <a:r>
              <a:rPr lang="de-DE" dirty="0" err="1"/>
              <a:t>graphics</a:t>
            </a:r>
            <a:r>
              <a:rPr lang="de-DE" dirty="0"/>
              <a:t>,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, meta-regression, </a:t>
            </a:r>
            <a:r>
              <a:rPr lang="de-DE" dirty="0" err="1"/>
              <a:t>simulation</a:t>
            </a:r>
            <a:r>
              <a:rPr lang="de-DE"/>
              <a:t> etc.)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69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18626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Add-on: </a:t>
            </a:r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studies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aim</a:t>
            </a:r>
            <a:r>
              <a:rPr lang="de-DE" dirty="0"/>
              <a:t> at </a:t>
            </a:r>
            <a:r>
              <a:rPr lang="de-DE" dirty="0" err="1"/>
              <a:t>classifying</a:t>
            </a:r>
            <a:r>
              <a:rPr lang="de-DE" dirty="0"/>
              <a:t> </a:t>
            </a:r>
            <a:r>
              <a:rPr lang="de-DE" dirty="0" err="1"/>
              <a:t>individuals</a:t>
            </a:r>
            <a:r>
              <a:rPr lang="de-DE" dirty="0"/>
              <a:t> </a:t>
            </a:r>
            <a:r>
              <a:rPr lang="de-DE" dirty="0" err="1"/>
              <a:t>correctly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 (</a:t>
            </a:r>
            <a:r>
              <a:rPr lang="de-DE" dirty="0" err="1"/>
              <a:t>who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test-positive)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 (</a:t>
            </a:r>
            <a:r>
              <a:rPr lang="de-DE" dirty="0" err="1"/>
              <a:t>who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test-negative)</a:t>
            </a:r>
          </a:p>
          <a:p>
            <a:pPr marL="0" indent="0">
              <a:buNone/>
            </a:pPr>
            <a:r>
              <a:rPr lang="de-DE" dirty="0"/>
              <a:t>					</a:t>
            </a:r>
            <a:r>
              <a:rPr lang="de-DE" sz="2000" dirty="0"/>
              <a:t>D=</a:t>
            </a:r>
            <a:r>
              <a:rPr lang="de-DE" sz="2000" dirty="0" err="1"/>
              <a:t>disease</a:t>
            </a:r>
            <a:r>
              <a:rPr lang="de-DE" sz="2000" dirty="0"/>
              <a:t> </a:t>
            </a:r>
            <a:r>
              <a:rPr lang="de-DE" sz="2000" dirty="0" err="1"/>
              <a:t>present</a:t>
            </a:r>
            <a:endParaRPr lang="de-DE" sz="2000" dirty="0"/>
          </a:p>
          <a:p>
            <a:pPr marL="0" indent="0">
              <a:buNone/>
            </a:pPr>
            <a:r>
              <a:rPr lang="de-DE" sz="2000" dirty="0"/>
              <a:t>					</a:t>
            </a:r>
            <a:r>
              <a:rPr lang="en-US" sz="2000" dirty="0"/>
              <a:t>“D dash”</a:t>
            </a:r>
            <a:r>
              <a:rPr lang="de-DE" sz="2000" dirty="0"/>
              <a:t>=</a:t>
            </a:r>
            <a:r>
              <a:rPr lang="de-DE" sz="2000" dirty="0" err="1"/>
              <a:t>disease</a:t>
            </a:r>
            <a:r>
              <a:rPr lang="de-DE" sz="2000" dirty="0"/>
              <a:t> 						absent</a:t>
            </a:r>
          </a:p>
          <a:p>
            <a:pPr marL="0" indent="0">
              <a:buNone/>
            </a:pPr>
            <a:r>
              <a:rPr lang="de-DE" sz="2000" dirty="0"/>
              <a:t>					P=</a:t>
            </a:r>
            <a:r>
              <a:rPr lang="de-DE" sz="2000" dirty="0" err="1"/>
              <a:t>test</a:t>
            </a:r>
            <a:r>
              <a:rPr lang="de-DE" sz="2000" dirty="0"/>
              <a:t> positive</a:t>
            </a:r>
          </a:p>
          <a:p>
            <a:pPr marL="0" indent="0">
              <a:buNone/>
            </a:pPr>
            <a:r>
              <a:rPr lang="de-DE" sz="2000" dirty="0"/>
              <a:t>					N=</a:t>
            </a:r>
            <a:r>
              <a:rPr lang="de-DE" sz="2000" dirty="0" err="1"/>
              <a:t>test</a:t>
            </a:r>
            <a:r>
              <a:rPr lang="de-DE" sz="2000" dirty="0"/>
              <a:t> negative</a:t>
            </a:r>
          </a:p>
          <a:p>
            <a:pPr marL="0" indent="0">
              <a:buNone/>
            </a:pPr>
            <a:r>
              <a:rPr lang="de-DE" sz="2000" dirty="0"/>
              <a:t>					TP=</a:t>
            </a:r>
            <a:r>
              <a:rPr lang="de-DE" sz="2000" dirty="0" err="1"/>
              <a:t>true</a:t>
            </a:r>
            <a:r>
              <a:rPr lang="de-DE" sz="2000" dirty="0"/>
              <a:t> positive, FP=</a:t>
            </a:r>
            <a:r>
              <a:rPr lang="de-DE" sz="2000" dirty="0" err="1"/>
              <a:t>false</a:t>
            </a:r>
            <a:r>
              <a:rPr lang="de-DE" sz="2000" dirty="0"/>
              <a:t> p.</a:t>
            </a:r>
          </a:p>
          <a:p>
            <a:pPr marL="0" indent="0">
              <a:buNone/>
            </a:pPr>
            <a:r>
              <a:rPr lang="de-DE" sz="2000" dirty="0"/>
              <a:t>					TN=</a:t>
            </a:r>
            <a:r>
              <a:rPr lang="de-DE" sz="2000" dirty="0" err="1"/>
              <a:t>true</a:t>
            </a:r>
            <a:r>
              <a:rPr lang="de-DE" sz="2000" dirty="0"/>
              <a:t> neg., FN=</a:t>
            </a:r>
            <a:r>
              <a:rPr lang="de-DE" sz="2000" dirty="0" err="1"/>
              <a:t>false</a:t>
            </a:r>
            <a:r>
              <a:rPr lang="de-DE" sz="2000" dirty="0"/>
              <a:t> neg.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0" y="3578224"/>
            <a:ext cx="2955925" cy="2333625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16304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studies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b="1" dirty="0" err="1"/>
              <a:t>Sensitivity</a:t>
            </a:r>
            <a:r>
              <a:rPr lang="de-DE" dirty="0"/>
              <a:t>: TP/(TP+FN)</a:t>
            </a:r>
          </a:p>
          <a:p>
            <a:r>
              <a:rPr lang="de-DE" b="1" dirty="0" err="1"/>
              <a:t>Specificity</a:t>
            </a:r>
            <a:r>
              <a:rPr lang="de-DE" dirty="0"/>
              <a:t>: TN/(TN+FP)</a:t>
            </a:r>
          </a:p>
          <a:p>
            <a:r>
              <a:rPr lang="de-DE" dirty="0"/>
              <a:t>Positive </a:t>
            </a:r>
            <a:r>
              <a:rPr lang="de-DE" dirty="0" err="1"/>
              <a:t>predictive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: TP/(TP+FP)</a:t>
            </a:r>
          </a:p>
          <a:p>
            <a:r>
              <a:rPr lang="de-DE" dirty="0"/>
              <a:t>Negative </a:t>
            </a:r>
            <a:r>
              <a:rPr lang="de-DE" dirty="0" err="1"/>
              <a:t>predictive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: TN/(TN+FN)</a:t>
            </a:r>
          </a:p>
          <a:p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odds</a:t>
            </a:r>
            <a:r>
              <a:rPr lang="de-DE" dirty="0"/>
              <a:t> </a:t>
            </a:r>
            <a:r>
              <a:rPr lang="de-DE" dirty="0" err="1"/>
              <a:t>ratio</a:t>
            </a:r>
            <a:r>
              <a:rPr lang="de-DE" dirty="0"/>
              <a:t>: (TP/FN)/(FP/TN)</a:t>
            </a:r>
          </a:p>
          <a:p>
            <a:endParaRPr lang="de-DE" dirty="0"/>
          </a:p>
          <a:p>
            <a:r>
              <a:rPr lang="de-DE" dirty="0" err="1"/>
              <a:t>Sensitivity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specificity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typically</a:t>
            </a:r>
            <a:r>
              <a:rPr lang="de-DE" dirty="0"/>
              <a:t> </a:t>
            </a:r>
            <a:r>
              <a:rPr lang="de-DE" dirty="0" err="1"/>
              <a:t>negatively</a:t>
            </a:r>
            <a:r>
              <a:rPr lang="de-DE" dirty="0"/>
              <a:t> </a:t>
            </a:r>
            <a:r>
              <a:rPr lang="de-DE" dirty="0" err="1"/>
              <a:t>correlated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dependent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marker</a:t>
            </a:r>
            <a:r>
              <a:rPr lang="de-DE" dirty="0"/>
              <a:t> </a:t>
            </a:r>
            <a:r>
              <a:rPr lang="de-DE" dirty="0" err="1"/>
              <a:t>cutoff</a:t>
            </a:r>
            <a:endParaRPr lang="de-DE" dirty="0"/>
          </a:p>
          <a:p>
            <a:r>
              <a:rPr lang="de-DE" dirty="0"/>
              <a:t>Separate </a:t>
            </a:r>
            <a:r>
              <a:rPr lang="de-DE" dirty="0" err="1"/>
              <a:t>pooling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measures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appropriate</a:t>
            </a:r>
            <a:r>
              <a:rPr lang="de-DE" dirty="0"/>
              <a:t>, </a:t>
            </a:r>
            <a:r>
              <a:rPr lang="de-DE" dirty="0" err="1"/>
              <a:t>requiring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sophisticated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2540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studies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Historically</a:t>
            </a:r>
            <a:r>
              <a:rPr lang="de-DE" dirty="0"/>
              <a:t>: </a:t>
            </a:r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odds</a:t>
            </a:r>
            <a:r>
              <a:rPr lang="de-DE" dirty="0"/>
              <a:t> </a:t>
            </a:r>
            <a:r>
              <a:rPr lang="de-DE" dirty="0" err="1"/>
              <a:t>ratios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pooled</a:t>
            </a:r>
            <a:r>
              <a:rPr lang="de-DE" dirty="0"/>
              <a:t> like normal </a:t>
            </a:r>
            <a:r>
              <a:rPr lang="de-DE" dirty="0" err="1"/>
              <a:t>odds</a:t>
            </a:r>
            <a:r>
              <a:rPr lang="de-DE" dirty="0"/>
              <a:t> </a:t>
            </a:r>
            <a:r>
              <a:rPr lang="de-DE" dirty="0" err="1"/>
              <a:t>ratios</a:t>
            </a:r>
            <a:r>
              <a:rPr lang="de-DE" dirty="0"/>
              <a:t> (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effects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)</a:t>
            </a:r>
          </a:p>
          <a:p>
            <a:r>
              <a:rPr lang="de-DE" dirty="0" err="1"/>
              <a:t>Popular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-</a:t>
            </a:r>
            <a:r>
              <a:rPr lang="de-DE" dirty="0" err="1"/>
              <a:t>to</a:t>
            </a:r>
            <a:r>
              <a:rPr lang="de-DE" dirty="0"/>
              <a:t>-date </a:t>
            </a:r>
            <a:r>
              <a:rPr lang="de-DE" dirty="0" err="1"/>
              <a:t>models</a:t>
            </a:r>
            <a:r>
              <a:rPr lang="de-DE" dirty="0"/>
              <a:t>: HSROC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bivariate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mathematically</a:t>
            </a:r>
            <a:r>
              <a:rPr lang="de-DE" dirty="0"/>
              <a:t> </a:t>
            </a:r>
            <a:r>
              <a:rPr lang="de-DE" dirty="0" err="1"/>
              <a:t>equivalent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absence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covariates</a:t>
            </a:r>
            <a:r>
              <a:rPr lang="de-DE" dirty="0"/>
              <a:t> (</a:t>
            </a:r>
            <a:r>
              <a:rPr lang="de-DE" dirty="0" err="1"/>
              <a:t>Harbord</a:t>
            </a:r>
            <a:r>
              <a:rPr lang="de-DE" dirty="0"/>
              <a:t> et al. 2006)</a:t>
            </a:r>
          </a:p>
          <a:p>
            <a:r>
              <a:rPr lang="de-DE" dirty="0" err="1"/>
              <a:t>Requirements</a:t>
            </a:r>
            <a:r>
              <a:rPr lang="de-DE" dirty="0"/>
              <a:t>: </a:t>
            </a:r>
          </a:p>
          <a:p>
            <a:pPr lvl="1"/>
            <a:r>
              <a:rPr lang="de-DE" dirty="0" err="1"/>
              <a:t>Reasonable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studies</a:t>
            </a:r>
            <a:r>
              <a:rPr lang="de-DE" dirty="0"/>
              <a:t> (5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estimated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Numbers </a:t>
            </a:r>
            <a:r>
              <a:rPr lang="de-DE" dirty="0" err="1"/>
              <a:t>of</a:t>
            </a:r>
            <a:r>
              <a:rPr lang="de-DE" dirty="0"/>
              <a:t> TP, FN, FP, TN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study</a:t>
            </a:r>
            <a:endParaRPr lang="de-DE" dirty="0"/>
          </a:p>
          <a:p>
            <a:pPr lvl="1"/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cells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containing</a:t>
            </a:r>
            <a:r>
              <a:rPr lang="de-DE" dirty="0"/>
              <a:t> 0 (</a:t>
            </a:r>
            <a:r>
              <a:rPr lang="de-DE" dirty="0" err="1"/>
              <a:t>else</a:t>
            </a:r>
            <a:r>
              <a:rPr lang="de-DE" dirty="0"/>
              <a:t>: </a:t>
            </a:r>
            <a:r>
              <a:rPr lang="de-DE" dirty="0" err="1"/>
              <a:t>continuity</a:t>
            </a:r>
            <a:r>
              <a:rPr lang="de-DE" dirty="0"/>
              <a:t> </a:t>
            </a:r>
            <a:r>
              <a:rPr lang="de-DE" dirty="0" err="1"/>
              <a:t>corr</a:t>
            </a:r>
            <a:r>
              <a:rPr lang="de-DE" dirty="0"/>
              <a:t>.)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31064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preparation</a:t>
            </a:r>
            <a:r>
              <a:rPr lang="de-DE" dirty="0"/>
              <a:t>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available</a:t>
                </a:r>
                <a:r>
                  <a:rPr lang="de-DE" dirty="0"/>
                  <a:t>, </a:t>
                </a:r>
                <a:r>
                  <a:rPr lang="de-DE" dirty="0" err="1"/>
                  <a:t>extract</a:t>
                </a:r>
                <a:r>
                  <a:rPr lang="de-DE" dirty="0"/>
                  <a:t> </a:t>
                </a:r>
                <a:r>
                  <a:rPr lang="de-DE" dirty="0" err="1"/>
                  <a:t>numbers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true</a:t>
                </a:r>
                <a:r>
                  <a:rPr lang="de-DE" dirty="0"/>
                  <a:t> positives, </a:t>
                </a:r>
                <a:r>
                  <a:rPr lang="de-DE" dirty="0" err="1"/>
                  <a:t>true</a:t>
                </a:r>
                <a:r>
                  <a:rPr lang="de-DE" dirty="0"/>
                  <a:t> negatives, </a:t>
                </a:r>
                <a:r>
                  <a:rPr lang="de-DE" dirty="0" err="1"/>
                  <a:t>false</a:t>
                </a:r>
                <a:r>
                  <a:rPr lang="de-DE" dirty="0"/>
                  <a:t> positives, </a:t>
                </a:r>
                <a:r>
                  <a:rPr lang="de-DE" dirty="0" err="1"/>
                  <a:t>false</a:t>
                </a:r>
                <a:r>
                  <a:rPr lang="de-DE" dirty="0"/>
                  <a:t> negatives </a:t>
                </a:r>
                <a:r>
                  <a:rPr lang="de-DE" dirty="0" err="1"/>
                  <a:t>directly</a:t>
                </a:r>
                <a:endParaRPr lang="de-DE" dirty="0"/>
              </a:p>
              <a:p>
                <a:r>
                  <a:rPr lang="de-DE" dirty="0" err="1"/>
                  <a:t>If</a:t>
                </a:r>
                <a:r>
                  <a:rPr lang="de-DE" dirty="0"/>
                  <a:t> not </a:t>
                </a:r>
                <a:r>
                  <a:rPr lang="de-DE" dirty="0" err="1"/>
                  <a:t>available</a:t>
                </a:r>
                <a:r>
                  <a:rPr lang="de-DE" dirty="0"/>
                  <a:t> but </a:t>
                </a:r>
                <a:r>
                  <a:rPr lang="de-DE" dirty="0" err="1"/>
                  <a:t>sensitivities</a:t>
                </a:r>
                <a:r>
                  <a:rPr lang="de-DE" dirty="0"/>
                  <a:t>, </a:t>
                </a:r>
                <a:r>
                  <a:rPr lang="de-DE" dirty="0" err="1"/>
                  <a:t>specificities</a:t>
                </a:r>
                <a:r>
                  <a:rPr lang="de-DE" dirty="0"/>
                  <a:t> </a:t>
                </a:r>
                <a:r>
                  <a:rPr lang="de-DE" dirty="0" err="1"/>
                  <a:t>and</a:t>
                </a:r>
                <a:r>
                  <a:rPr lang="de-DE" dirty="0"/>
                  <a:t> total </a:t>
                </a:r>
                <a:r>
                  <a:rPr lang="de-DE" dirty="0" err="1"/>
                  <a:t>numbers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cases</a:t>
                </a:r>
                <a:r>
                  <a:rPr lang="de-DE" dirty="0"/>
                  <a:t> </a:t>
                </a:r>
                <a:r>
                  <a:rPr lang="de-DE" dirty="0" err="1"/>
                  <a:t>and</a:t>
                </a:r>
                <a:r>
                  <a:rPr lang="de-DE" dirty="0"/>
                  <a:t> non-</a:t>
                </a:r>
                <a:r>
                  <a:rPr lang="de-DE" dirty="0" err="1"/>
                  <a:t>cases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reported</a:t>
                </a:r>
                <a:r>
                  <a:rPr lang="de-DE" dirty="0"/>
                  <a:t>: </a:t>
                </a:r>
                <a:r>
                  <a:rPr lang="de-DE" dirty="0" err="1"/>
                  <a:t>calculate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follows</a:t>
                </a:r>
                <a:r>
                  <a:rPr lang="de-DE" dirty="0"/>
                  <a:t>: </a:t>
                </a:r>
              </a:p>
              <a:p>
                <a:pPr marL="0" indent="0">
                  <a:buNone/>
                </a:pPr>
                <a:r>
                  <a:rPr lang="de-DE" dirty="0"/>
                  <a:t>TP = sens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de-DE" dirty="0"/>
                  <a:t> N(</a:t>
                </a:r>
                <a:r>
                  <a:rPr lang="de-DE" dirty="0" err="1"/>
                  <a:t>cases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FN = (1-sens)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de-DE" dirty="0"/>
                  <a:t> N(</a:t>
                </a:r>
                <a:r>
                  <a:rPr lang="de-DE" dirty="0" err="1"/>
                  <a:t>cases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TN = </a:t>
                </a:r>
                <a:r>
                  <a:rPr lang="de-DE" dirty="0" err="1"/>
                  <a:t>spec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de-DE" dirty="0"/>
                  <a:t> N(non-</a:t>
                </a:r>
                <a:r>
                  <a:rPr lang="de-DE" dirty="0" err="1"/>
                  <a:t>cases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FP = (1-spec)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de-DE" dirty="0"/>
                  <a:t> N(non-</a:t>
                </a:r>
                <a:r>
                  <a:rPr lang="de-DE" dirty="0" err="1"/>
                  <a:t>cases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241" r="-1777" b="-1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72822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 13 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30 STARD </a:t>
            </a:r>
            <a:r>
              <a:rPr lang="de-DE" dirty="0" err="1"/>
              <a:t>checklist</a:t>
            </a:r>
            <a:r>
              <a:rPr lang="de-DE" dirty="0"/>
              <a:t> </a:t>
            </a:r>
            <a:r>
              <a:rPr lang="de-DE" dirty="0" err="1"/>
              <a:t>items</a:t>
            </a:r>
            <a:endParaRPr lang="de-DE" dirty="0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919" y="1715846"/>
            <a:ext cx="5999856" cy="458494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41605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Remaining</a:t>
            </a:r>
            <a:r>
              <a:rPr lang="de-DE" dirty="0"/>
              <a:t> STARD </a:t>
            </a:r>
            <a:r>
              <a:rPr lang="de-DE" dirty="0" err="1"/>
              <a:t>checklist</a:t>
            </a:r>
            <a:r>
              <a:rPr lang="de-DE" dirty="0"/>
              <a:t> </a:t>
            </a:r>
            <a:r>
              <a:rPr lang="de-DE" dirty="0" err="1"/>
              <a:t>items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604" y="1825625"/>
            <a:ext cx="7426791" cy="4351338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60730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preparation</a:t>
            </a:r>
            <a:r>
              <a:rPr lang="de-DE" dirty="0"/>
              <a:t> (II)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Create an </a:t>
            </a:r>
            <a:r>
              <a:rPr lang="de-DE" dirty="0" err="1"/>
              <a:t>excel</a:t>
            </a:r>
            <a:r>
              <a:rPr lang="de-DE" dirty="0"/>
              <a:t> </a:t>
            </a:r>
            <a:r>
              <a:rPr lang="de-DE" dirty="0" err="1"/>
              <a:t>sheet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looks</a:t>
            </a:r>
            <a:r>
              <a:rPr lang="de-DE" dirty="0"/>
              <a:t> </a:t>
            </a:r>
            <a:r>
              <a:rPr lang="de-DE" dirty="0" err="1"/>
              <a:t>approximately</a:t>
            </a:r>
            <a:r>
              <a:rPr lang="de-DE" dirty="0"/>
              <a:t> like </a:t>
            </a:r>
            <a:r>
              <a:rPr lang="de-DE" dirty="0" err="1"/>
              <a:t>this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538540"/>
              </p:ext>
            </p:extLst>
          </p:nvPr>
        </p:nvGraphicFramePr>
        <p:xfrm>
          <a:off x="809621" y="2759075"/>
          <a:ext cx="7629531" cy="3565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933">
                  <a:extLst>
                    <a:ext uri="{9D8B030D-6E8A-4147-A177-3AD203B41FA5}">
                      <a16:colId xmlns:a16="http://schemas.microsoft.com/office/drawing/2014/main" val="2775921233"/>
                    </a:ext>
                  </a:extLst>
                </a:gridCol>
                <a:gridCol w="1089933">
                  <a:extLst>
                    <a:ext uri="{9D8B030D-6E8A-4147-A177-3AD203B41FA5}">
                      <a16:colId xmlns:a16="http://schemas.microsoft.com/office/drawing/2014/main" val="631204364"/>
                    </a:ext>
                  </a:extLst>
                </a:gridCol>
                <a:gridCol w="1089933">
                  <a:extLst>
                    <a:ext uri="{9D8B030D-6E8A-4147-A177-3AD203B41FA5}">
                      <a16:colId xmlns:a16="http://schemas.microsoft.com/office/drawing/2014/main" val="2188571741"/>
                    </a:ext>
                  </a:extLst>
                </a:gridCol>
                <a:gridCol w="1089933">
                  <a:extLst>
                    <a:ext uri="{9D8B030D-6E8A-4147-A177-3AD203B41FA5}">
                      <a16:colId xmlns:a16="http://schemas.microsoft.com/office/drawing/2014/main" val="912489330"/>
                    </a:ext>
                  </a:extLst>
                </a:gridCol>
                <a:gridCol w="1089933">
                  <a:extLst>
                    <a:ext uri="{9D8B030D-6E8A-4147-A177-3AD203B41FA5}">
                      <a16:colId xmlns:a16="http://schemas.microsoft.com/office/drawing/2014/main" val="2117450723"/>
                    </a:ext>
                  </a:extLst>
                </a:gridCol>
                <a:gridCol w="1089933">
                  <a:extLst>
                    <a:ext uri="{9D8B030D-6E8A-4147-A177-3AD203B41FA5}">
                      <a16:colId xmlns:a16="http://schemas.microsoft.com/office/drawing/2014/main" val="1527434722"/>
                    </a:ext>
                  </a:extLst>
                </a:gridCol>
                <a:gridCol w="1089933">
                  <a:extLst>
                    <a:ext uri="{9D8B030D-6E8A-4147-A177-3AD203B41FA5}">
                      <a16:colId xmlns:a16="http://schemas.microsoft.com/office/drawing/2014/main" val="4208765440"/>
                    </a:ext>
                  </a:extLst>
                </a:gridCol>
              </a:tblGrid>
              <a:tr h="417909">
                <a:tc>
                  <a:txBody>
                    <a:bodyPr/>
                    <a:lstStyle/>
                    <a:p>
                      <a:r>
                        <a:rPr lang="de-DE" dirty="0"/>
                        <a:t>First </a:t>
                      </a:r>
                      <a:r>
                        <a:rPr lang="de-DE" dirty="0" err="1"/>
                        <a:t>author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strat_var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18555"/>
                  </a:ext>
                </a:extLst>
              </a:tr>
              <a:tr h="417909">
                <a:tc>
                  <a:txBody>
                    <a:bodyPr/>
                    <a:lstStyle/>
                    <a:p>
                      <a:r>
                        <a:rPr lang="de-DE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342339"/>
                  </a:ext>
                </a:extLst>
              </a:tr>
              <a:tr h="417909">
                <a:tc>
                  <a:txBody>
                    <a:bodyPr/>
                    <a:lstStyle/>
                    <a:p>
                      <a:r>
                        <a:rPr lang="de-DE" dirty="0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861818"/>
                  </a:ext>
                </a:extLst>
              </a:tr>
              <a:tr h="417909">
                <a:tc>
                  <a:txBody>
                    <a:bodyPr/>
                    <a:lstStyle/>
                    <a:p>
                      <a:r>
                        <a:rPr lang="de-DE" dirty="0"/>
                        <a:t>Williams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580543"/>
                  </a:ext>
                </a:extLst>
              </a:tr>
              <a:tr h="417909">
                <a:tc>
                  <a:txBody>
                    <a:bodyPr/>
                    <a:lstStyle/>
                    <a:p>
                      <a:r>
                        <a:rPr lang="de-DE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653689"/>
                  </a:ext>
                </a:extLst>
              </a:tr>
              <a:tr h="417909">
                <a:tc>
                  <a:txBody>
                    <a:bodyPr/>
                    <a:lstStyle/>
                    <a:p>
                      <a:r>
                        <a:rPr lang="de-DE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357458"/>
                  </a:ext>
                </a:extLst>
              </a:tr>
              <a:tr h="417909">
                <a:tc>
                  <a:txBody>
                    <a:bodyPr/>
                    <a:lstStyle/>
                    <a:p>
                      <a:r>
                        <a:rPr lang="de-DE" dirty="0"/>
                        <a:t>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287757"/>
                  </a:ext>
                </a:extLst>
              </a:tr>
              <a:tr h="417909">
                <a:tc>
                  <a:txBody>
                    <a:bodyPr/>
                    <a:lstStyle/>
                    <a:p>
                      <a:r>
                        <a:rPr lang="de-DE" dirty="0"/>
                        <a:t>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516167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34643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 in R (I)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Read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 in R: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setwd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("X:\\Path\\to\\file")</a:t>
            </a:r>
          </a:p>
          <a:p>
            <a:pPr marL="800100" lvl="2" indent="-342900">
              <a:spcBef>
                <a:spcPts val="1000"/>
              </a:spcBef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read.csv2("data_extraction_sheet.xlsx",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stringsAsFactors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=FALSE)</a:t>
            </a:r>
          </a:p>
          <a:p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sure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relevant variables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recognized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numeric</a:t>
            </a:r>
            <a:r>
              <a:rPr lang="de-DE" dirty="0"/>
              <a:t>:</a:t>
            </a:r>
          </a:p>
          <a:p>
            <a:pPr lvl="1"/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[,("TP", "FN", "FP", "TN")] &lt;-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as.character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[,("TP", "FN", "FP", "TN")]))</a:t>
            </a:r>
          </a:p>
          <a:p>
            <a:pPr marL="228600" lvl="1">
              <a:spcBef>
                <a:spcPts val="1000"/>
              </a:spcBef>
            </a:pPr>
            <a:r>
              <a:rPr lang="de-DE" sz="2800" dirty="0" err="1"/>
              <a:t>If</a:t>
            </a:r>
            <a:r>
              <a:rPr lang="de-DE" sz="2800" dirty="0"/>
              <a:t> </a:t>
            </a:r>
            <a:r>
              <a:rPr lang="de-DE" sz="2800" dirty="0" err="1"/>
              <a:t>necessary</a:t>
            </a:r>
            <a:r>
              <a:rPr lang="de-DE" sz="2800" dirty="0"/>
              <a:t>, </a:t>
            </a:r>
            <a:r>
              <a:rPr lang="de-DE" sz="2800" dirty="0" err="1"/>
              <a:t>select</a:t>
            </a:r>
            <a:r>
              <a:rPr lang="de-DE" sz="2800" dirty="0"/>
              <a:t> relevant </a:t>
            </a:r>
            <a:r>
              <a:rPr lang="de-DE" sz="2800" dirty="0" err="1"/>
              <a:t>subset</a:t>
            </a:r>
            <a:r>
              <a:rPr lang="de-DE" sz="2800" dirty="0"/>
              <a:t>:</a:t>
            </a:r>
          </a:p>
          <a:p>
            <a:pPr marL="685800" lvl="2">
              <a:spcBef>
                <a:spcPts val="1000"/>
              </a:spcBef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dat_sub1 &lt;-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dat$strat_var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==1,]</a:t>
            </a:r>
          </a:p>
          <a:p>
            <a:pPr marL="228600" lvl="1">
              <a:spcBef>
                <a:spcPts val="1000"/>
              </a:spcBef>
            </a:pPr>
            <a:r>
              <a:rPr lang="de-DE" sz="2800" dirty="0"/>
              <a:t>Load R </a:t>
            </a:r>
            <a:r>
              <a:rPr lang="de-DE" sz="2800" dirty="0" err="1"/>
              <a:t>package</a:t>
            </a:r>
            <a:r>
              <a:rPr lang="de-DE" sz="2800" dirty="0"/>
              <a:t> </a:t>
            </a: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sz="2800" dirty="0" err="1"/>
              <a:t>mada</a:t>
            </a:r>
            <a:r>
              <a:rPr lang="de-DE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de-DE" sz="2800" dirty="0"/>
              <a:t>: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mada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de-DE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74378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 in R (II)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28600" lvl="1">
              <a:spcBef>
                <a:spcPts val="1000"/>
              </a:spcBef>
            </a:pPr>
            <a:r>
              <a:rPr lang="de-DE" sz="2800" dirty="0"/>
              <a:t>Show </a:t>
            </a:r>
            <a:r>
              <a:rPr lang="de-DE" sz="2800" dirty="0" err="1"/>
              <a:t>descriptive</a:t>
            </a:r>
            <a:r>
              <a:rPr lang="de-DE" sz="2800" dirty="0"/>
              <a:t> </a:t>
            </a:r>
            <a:r>
              <a:rPr lang="de-DE" sz="2800" dirty="0" err="1"/>
              <a:t>data</a:t>
            </a:r>
            <a:r>
              <a:rPr lang="de-DE" sz="2800" dirty="0"/>
              <a:t> </a:t>
            </a:r>
            <a:r>
              <a:rPr lang="de-DE" sz="2800" dirty="0" err="1"/>
              <a:t>and</a:t>
            </a:r>
            <a:r>
              <a:rPr lang="de-DE" sz="2800" dirty="0"/>
              <a:t> double-check </a:t>
            </a:r>
            <a:r>
              <a:rPr lang="de-DE" sz="2800" dirty="0" err="1"/>
              <a:t>with</a:t>
            </a:r>
            <a:r>
              <a:rPr lang="de-DE" sz="2800" dirty="0"/>
              <a:t> original </a:t>
            </a:r>
            <a:r>
              <a:rPr lang="de-DE" sz="2800" dirty="0" err="1"/>
              <a:t>publication</a:t>
            </a:r>
            <a:r>
              <a:rPr lang="de-DE" sz="2800" dirty="0"/>
              <a:t>:</a:t>
            </a:r>
          </a:p>
          <a:p>
            <a:pPr marL="742950" lvl="2" indent="-285750">
              <a:spcBef>
                <a:spcPts val="1000"/>
              </a:spcBef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&lt;-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madad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correction=0, method=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clopper-pearson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742950" lvl="2" indent="-285750">
              <a:spcBef>
                <a:spcPts val="1000"/>
              </a:spcBef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crosshair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correction=0, method=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clopper-pearson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742950" lvl="2" indent="-285750">
              <a:spcBef>
                <a:spcPts val="1000"/>
              </a:spcBef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ROCellipse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(x, correction=0, method=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clopper-pearson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742950" lvl="2" indent="-285750">
              <a:spcBef>
                <a:spcPts val="1000"/>
              </a:spcBef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(x, type="sens"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742950" lvl="2" indent="-285750">
              <a:spcBef>
                <a:spcPts val="1000"/>
              </a:spcBef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(x, type="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28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600" dirty="0"/>
              <a:t>More information on different CIs </a:t>
            </a:r>
            <a:r>
              <a:rPr lang="en-US" sz="2600"/>
              <a:t>of proportions</a:t>
            </a:r>
            <a:r>
              <a:rPr lang="en-US" sz="2600" dirty="0"/>
              <a:t>: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de-DE" sz="2600" dirty="0">
                <a:hlinkClick r:id="rId3"/>
              </a:rPr>
              <a:t>https://towardsdatascience.com/five-confidence-intervals-for-proportions-that-you-should-know-about-7ff5484c024f</a:t>
            </a:r>
            <a:endParaRPr lang="de-DE" sz="26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41495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 in R (III)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de-DE" sz="2800" dirty="0" err="1"/>
              <a:t>Perform</a:t>
            </a:r>
            <a:r>
              <a:rPr lang="de-DE" sz="2800" dirty="0"/>
              <a:t> meta-analysis:</a:t>
            </a:r>
          </a:p>
          <a:p>
            <a:pPr marL="742950" lvl="2" indent="-285750">
              <a:spcBef>
                <a:spcPts val="1000"/>
              </a:spcBef>
            </a:pP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reitsma_model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reitsma_model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="SROC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curve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confidence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nregion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bivariate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sens(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=0.5)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legend("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bottomright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c("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c(2,1))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legend("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bottomleft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c("SROC", 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c(2,1))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reitsma_model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79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43012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372475" cy="1325563"/>
          </a:xfrm>
        </p:spPr>
        <p:txBody>
          <a:bodyPr>
            <a:normAutofit fontScale="90000"/>
          </a:bodyPr>
          <a:lstStyle/>
          <a:p>
            <a:r>
              <a:rPr lang="de-DE" dirty="0"/>
              <a:t>Analysis in R (IV) - </a:t>
            </a:r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reitsma_model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DE" dirty="0"/>
              <a:t>:</a:t>
            </a:r>
            <a:b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690689"/>
            <a:ext cx="6562726" cy="4756758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  <p:sp>
        <p:nvSpPr>
          <p:cNvPr id="5" name="Ellipse 4"/>
          <p:cNvSpPr/>
          <p:nvPr/>
        </p:nvSpPr>
        <p:spPr>
          <a:xfrm>
            <a:off x="2384384" y="3162782"/>
            <a:ext cx="520861" cy="1678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5467110" y="3314220"/>
            <a:ext cx="1466126" cy="1832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5467109" y="3144454"/>
            <a:ext cx="1466126" cy="204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/>
          <p:cNvSpPr/>
          <p:nvPr/>
        </p:nvSpPr>
        <p:spPr>
          <a:xfrm>
            <a:off x="2384384" y="3314219"/>
            <a:ext cx="544010" cy="1832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02699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372475" cy="1325563"/>
          </a:xfrm>
        </p:spPr>
        <p:txBody>
          <a:bodyPr>
            <a:normAutofit fontScale="90000"/>
          </a:bodyPr>
          <a:lstStyle/>
          <a:p>
            <a:r>
              <a:rPr lang="de-DE" dirty="0"/>
              <a:t>Analysis in R (V) – Explanation </a:t>
            </a:r>
            <a:r>
              <a:rPr lang="de-DE" dirty="0" err="1"/>
              <a:t>of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output</a:t>
            </a:r>
            <a:b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Row “sensitivity”, column “Estimate”: Point estimate for pooled sensitivity</a:t>
            </a:r>
          </a:p>
          <a:p>
            <a:r>
              <a:rPr lang="en-US" dirty="0"/>
              <a:t>Row “sensitivity”, column “95%ci.lb”: lower bound of 95% confidence interval for pooled sensitivity</a:t>
            </a:r>
          </a:p>
          <a:p>
            <a:r>
              <a:rPr lang="en-US" dirty="0"/>
              <a:t>Row “sensitivity”, column “95%ci.ub”: upper bound of 95% confidence interval for pooled sensitivity</a:t>
            </a:r>
          </a:p>
          <a:p>
            <a:r>
              <a:rPr lang="en-US" dirty="0"/>
              <a:t>Row “false pos. rate”: equals 1-specificity</a:t>
            </a:r>
          </a:p>
          <a:p>
            <a:r>
              <a:rPr lang="en-US" dirty="0"/>
              <a:t>Variance components: typically not necessary</a:t>
            </a:r>
          </a:p>
          <a:p>
            <a:r>
              <a:rPr lang="en-US" dirty="0"/>
              <a:t>AUC: overall accuracy when pooling all studies</a:t>
            </a:r>
          </a:p>
          <a:p>
            <a:r>
              <a:rPr lang="en-US" dirty="0" err="1"/>
              <a:t>pAUC</a:t>
            </a:r>
            <a:r>
              <a:rPr lang="en-US" dirty="0"/>
              <a:t>: same but restricted to 100-80% specificity</a:t>
            </a:r>
          </a:p>
          <a:p>
            <a:r>
              <a:rPr lang="en-US" dirty="0"/>
              <a:t>HSROC parameters: typically </a:t>
            </a:r>
            <a:r>
              <a:rPr lang="en-US"/>
              <a:t>not interesting</a:t>
            </a:r>
            <a:endParaRPr lang="en-US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11712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 </a:t>
            </a:r>
            <a:r>
              <a:rPr lang="de-DE" dirty="0" err="1"/>
              <a:t>packages</a:t>
            </a:r>
            <a:r>
              <a:rPr lang="de-DE" dirty="0"/>
              <a:t> </a:t>
            </a:r>
            <a:r>
              <a:rPr lang="de-DE" dirty="0" err="1"/>
              <a:t>suitable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meta-analysis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tests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b="1" dirty="0" err="1"/>
              <a:t>mada</a:t>
            </a:r>
            <a:r>
              <a:rPr lang="de-DE" dirty="0"/>
              <a:t> (</a:t>
            </a:r>
            <a:r>
              <a:rPr lang="de-DE" dirty="0" err="1"/>
              <a:t>bivariate</a:t>
            </a:r>
            <a:r>
              <a:rPr lang="de-DE" dirty="0"/>
              <a:t> </a:t>
            </a:r>
            <a:r>
              <a:rPr lang="de-DE" dirty="0" err="1"/>
              <a:t>Reitsma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incl. meta-regression, </a:t>
            </a:r>
            <a:r>
              <a:rPr lang="en-US" dirty="0"/>
              <a:t>Journal of Clinical Epidemiology, 58, 982–990</a:t>
            </a:r>
            <a:r>
              <a:rPr lang="de-DE" dirty="0"/>
              <a:t>)</a:t>
            </a:r>
          </a:p>
          <a:p>
            <a:r>
              <a:rPr lang="de-DE" b="1" dirty="0" err="1"/>
              <a:t>Metatron</a:t>
            </a:r>
            <a:r>
              <a:rPr lang="de-DE" dirty="0"/>
              <a:t> (</a:t>
            </a:r>
            <a:r>
              <a:rPr lang="de-DE" dirty="0" err="1"/>
              <a:t>bivariate</a:t>
            </a:r>
            <a:r>
              <a:rPr lang="de-DE" dirty="0"/>
              <a:t> </a:t>
            </a:r>
            <a:r>
              <a:rPr lang="de-DE" dirty="0" err="1"/>
              <a:t>Reitsma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)</a:t>
            </a:r>
          </a:p>
          <a:p>
            <a:r>
              <a:rPr lang="de-DE" b="1" dirty="0" err="1"/>
              <a:t>Metamisc</a:t>
            </a:r>
            <a:r>
              <a:rPr lang="de-DE" dirty="0"/>
              <a:t> (Riley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Biostatistics</a:t>
            </a:r>
            <a:r>
              <a:rPr lang="de-DE" dirty="0"/>
              <a:t> 2008; 9: 172–186)</a:t>
            </a:r>
          </a:p>
          <a:p>
            <a:r>
              <a:rPr lang="de-DE" b="1" dirty="0" err="1"/>
              <a:t>bamdit</a:t>
            </a:r>
            <a:r>
              <a:rPr lang="de-DE" dirty="0"/>
              <a:t> (</a:t>
            </a:r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bivariate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Statistics</a:t>
            </a:r>
            <a:r>
              <a:rPr lang="de-DE" dirty="0"/>
              <a:t> in </a:t>
            </a:r>
            <a:r>
              <a:rPr lang="de-DE" dirty="0" err="1"/>
              <a:t>Medicine</a:t>
            </a:r>
            <a:r>
              <a:rPr lang="de-DE" dirty="0"/>
              <a:t>. 29(30):3088-102)</a:t>
            </a:r>
          </a:p>
          <a:p>
            <a:r>
              <a:rPr lang="de-DE" b="1" dirty="0"/>
              <a:t>meta4diag</a:t>
            </a:r>
            <a:r>
              <a:rPr lang="de-DE" dirty="0"/>
              <a:t> (</a:t>
            </a:r>
            <a:r>
              <a:rPr lang="de-DE" dirty="0" err="1"/>
              <a:t>Bayesian</a:t>
            </a:r>
            <a:r>
              <a:rPr lang="de-DE" dirty="0"/>
              <a:t> </a:t>
            </a:r>
            <a:r>
              <a:rPr lang="de-DE" dirty="0" err="1"/>
              <a:t>bivariate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Statistics</a:t>
            </a:r>
            <a:r>
              <a:rPr lang="de-DE" dirty="0"/>
              <a:t> in </a:t>
            </a:r>
            <a:r>
              <a:rPr lang="de-DE" dirty="0" err="1"/>
              <a:t>Medicine</a:t>
            </a:r>
            <a:r>
              <a:rPr lang="de-DE" dirty="0"/>
              <a:t> 36(19): 3039–3058)</a:t>
            </a:r>
          </a:p>
          <a:p>
            <a:r>
              <a:rPr lang="de-DE" b="1" dirty="0" err="1"/>
              <a:t>CopulaREMADA</a:t>
            </a:r>
            <a:r>
              <a:rPr lang="de-DE" b="1" dirty="0"/>
              <a:t> </a:t>
            </a:r>
            <a:r>
              <a:rPr lang="de-DE" dirty="0"/>
              <a:t>(</a:t>
            </a:r>
            <a:r>
              <a:rPr lang="de-DE" dirty="0" err="1"/>
              <a:t>Copula</a:t>
            </a:r>
            <a:r>
              <a:rPr lang="de-DE" dirty="0"/>
              <a:t> Mixed Models, doi:10.1002/sim.6595)</a:t>
            </a:r>
            <a:endParaRPr lang="de-DE" b="1" dirty="0"/>
          </a:p>
          <a:p>
            <a:r>
              <a:rPr lang="de-DE" b="1" dirty="0" err="1"/>
              <a:t>diagmeta</a:t>
            </a:r>
            <a:r>
              <a:rPr lang="de-DE" b="1" dirty="0"/>
              <a:t> </a:t>
            </a:r>
            <a:r>
              <a:rPr lang="de-DE" dirty="0"/>
              <a:t>(doi:10.1186/s12874-016-0196-1)</a:t>
            </a:r>
          </a:p>
          <a:p>
            <a:r>
              <a:rPr lang="de-DE" b="1" dirty="0"/>
              <a:t>HSROC</a:t>
            </a:r>
            <a:r>
              <a:rPr lang="de-DE" dirty="0"/>
              <a:t> (HSROC, </a:t>
            </a:r>
            <a:r>
              <a:rPr lang="de-DE" dirty="0" err="1"/>
              <a:t>Statistics</a:t>
            </a:r>
            <a:r>
              <a:rPr lang="de-DE" dirty="0"/>
              <a:t> in </a:t>
            </a:r>
            <a:r>
              <a:rPr lang="de-DE" dirty="0" err="1"/>
              <a:t>Medicine</a:t>
            </a:r>
            <a:r>
              <a:rPr lang="de-DE" dirty="0"/>
              <a:t>, 20, 2865–2884)</a:t>
            </a:r>
          </a:p>
          <a:p>
            <a:r>
              <a:rPr lang="de-DE" b="1" dirty="0" err="1"/>
              <a:t>CopulaDTA</a:t>
            </a:r>
            <a:r>
              <a:rPr lang="de-DE" dirty="0"/>
              <a:t> (</a:t>
            </a:r>
            <a:r>
              <a:rPr lang="de-DE" dirty="0" err="1"/>
              <a:t>Copula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Bivariate</a:t>
            </a:r>
            <a:r>
              <a:rPr lang="de-DE" dirty="0"/>
              <a:t> Beta-</a:t>
            </a:r>
            <a:r>
              <a:rPr lang="de-DE" dirty="0" err="1"/>
              <a:t>Binomial</a:t>
            </a:r>
            <a:r>
              <a:rPr lang="de-DE" dirty="0"/>
              <a:t> Model, oi:10.18637/jss.v082.c01)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58292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Worked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packages</a:t>
            </a:r>
            <a:r>
              <a:rPr lang="de-DE" dirty="0"/>
              <a:t> (I)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de-DE" dirty="0"/>
              <a:t>#1.) </a:t>
            </a:r>
            <a:r>
              <a:rPr lang="de-DE" dirty="0" err="1"/>
              <a:t>mada</a:t>
            </a:r>
            <a:endParaRPr lang="de-DE" dirty="0"/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mada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))[1]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correction.control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single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correct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=0.0001))[1]</a:t>
            </a:r>
          </a:p>
          <a:p>
            <a:pPr marL="0" indent="0">
              <a:buNone/>
            </a:pPr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Plotting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crosshair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ROCellipse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=".",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=3)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reitsma_model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correction.control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single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correct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=0.0001)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reitsma_model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="SROC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curve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confidence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nregion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bivariate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Reitsma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), sens(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=0.5)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legend("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bottomright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 c("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"),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c(2,1))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legend("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bottomleft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 c("SROC", 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"),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c(2,1))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madad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correction.control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single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correction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=0.0001), type="sens",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snames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=c(LETTERS[1:26],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[1:7]),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Sensitivity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madad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correction.control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single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correction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=0.0001), type="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snames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=c(LETTERS[1:26],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[1:7]),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Specificity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74565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</a:t>
            </a:r>
            <a:r>
              <a:rPr lang="de-DE" dirty="0" err="1"/>
              <a:t>mada</a:t>
            </a:r>
            <a:r>
              <a:rPr lang="de-DE" dirty="0"/>
              <a:t>‘ </a:t>
            </a:r>
            <a:r>
              <a:rPr lang="de-DE" dirty="0" err="1"/>
              <a:t>package</a:t>
            </a:r>
            <a:r>
              <a:rPr lang="de-DE" dirty="0"/>
              <a:t> (I)</a:t>
            </a:r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865" y="1825625"/>
            <a:ext cx="4364269" cy="4351338"/>
          </a:xfr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99479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</a:t>
            </a:r>
            <a:r>
              <a:rPr lang="de-DE" dirty="0" err="1"/>
              <a:t>mada</a:t>
            </a:r>
            <a:r>
              <a:rPr lang="de-DE" dirty="0"/>
              <a:t>‘ </a:t>
            </a:r>
            <a:r>
              <a:rPr lang="de-DE" dirty="0" err="1"/>
              <a:t>package</a:t>
            </a:r>
            <a:r>
              <a:rPr lang="de-DE" dirty="0"/>
              <a:t> (II)</a:t>
            </a:r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865" y="1825625"/>
            <a:ext cx="4364269" cy="4351338"/>
          </a:xfr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083101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</a:t>
            </a:r>
            <a:r>
              <a:rPr lang="de-DE" dirty="0" err="1"/>
              <a:t>mada</a:t>
            </a:r>
            <a:r>
              <a:rPr lang="de-DE" dirty="0"/>
              <a:t>‘ </a:t>
            </a:r>
            <a:r>
              <a:rPr lang="de-DE" dirty="0" err="1"/>
              <a:t>package</a:t>
            </a:r>
            <a:r>
              <a:rPr lang="de-DE" dirty="0"/>
              <a:t> (III)</a:t>
            </a:r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865" y="1825625"/>
            <a:ext cx="4364269" cy="4351338"/>
          </a:xfr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73614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</a:t>
            </a:r>
            <a:r>
              <a:rPr lang="de-DE" dirty="0" err="1"/>
              <a:t>mada</a:t>
            </a:r>
            <a:r>
              <a:rPr lang="de-DE" dirty="0"/>
              <a:t>‘ </a:t>
            </a:r>
            <a:r>
              <a:rPr lang="de-DE" dirty="0" err="1"/>
              <a:t>package</a:t>
            </a:r>
            <a:r>
              <a:rPr lang="de-DE" dirty="0"/>
              <a:t> (IV)</a:t>
            </a:r>
          </a:p>
        </p:txBody>
      </p:sp>
      <p:pic>
        <p:nvPicPr>
          <p:cNvPr id="7" name="Inhaltsplatzhalt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865" y="1825625"/>
            <a:ext cx="4364269" cy="4351338"/>
          </a:xfr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40641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Worked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packages</a:t>
            </a:r>
            <a:r>
              <a:rPr lang="de-DE" dirty="0"/>
              <a:t> (II)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2000" dirty="0"/>
              <a:t>#2.) </a:t>
            </a:r>
            <a:r>
              <a:rPr lang="de-DE" sz="2000" dirty="0" err="1"/>
              <a:t>Metatron</a:t>
            </a:r>
            <a:endParaRPr lang="de-DE" sz="2000" dirty="0"/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Metatron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Dementia$study_id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c(LETTERS,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[1:7])</a:t>
            </a:r>
          </a:p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 &lt;-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fit.bivar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(TP=TP, FN=FN, TN=TN, FP=FP,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study_id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coefficient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sensitivity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e.g. 1.427642</a:t>
            </a:r>
          </a:p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specificity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 e.g. 2.198466</a:t>
            </a:r>
          </a:p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#https://stat.ethz.ch/R-manual/R-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devel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/inv.logit.html</a:t>
            </a:r>
          </a:p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#The inverse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defined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(x)/(1+exp(x))</a:t>
            </a:r>
          </a:p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#https://www.ncbi.nlm.nih.gov/books/NBK115744/</a:t>
            </a:r>
          </a:p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sens: 80.7%,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spec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 90.0%. 95%-CIs: -/+ 1.96*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std.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de-DE" sz="180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error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02607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Worked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packages</a:t>
            </a:r>
            <a:r>
              <a:rPr lang="de-DE" dirty="0"/>
              <a:t> (III)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#3.) </a:t>
            </a:r>
            <a:r>
              <a:rPr lang="de-DE" sz="1800" dirty="0" err="1"/>
              <a:t>metamisc</a:t>
            </a:r>
            <a:endParaRPr lang="de-DE" sz="1800" dirty="0"/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metamisc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riley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riley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slab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=c(LETTERS[1:26],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letters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[1:7]))) #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plots</a:t>
            </a:r>
            <a:endParaRPr lang="de-D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funnel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asymmetry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fat_Dementia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(log(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mada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madad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)$DOR$DOR),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madad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)$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DOR$se.lnDOR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Default: "E-FIV" 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Egger's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multiplicative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dispersion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fat_Dementia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fat_Dementia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TRUE,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confint.level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0.1,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confint.col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lightgrey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confint.density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NULL,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(log DOR)")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89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36111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Plot </a:t>
            </a:r>
            <a:r>
              <a:rPr lang="de-DE" dirty="0" err="1"/>
              <a:t>of</a:t>
            </a:r>
            <a:r>
              <a:rPr lang="de-DE" dirty="0"/>
              <a:t> log(</a:t>
            </a:r>
            <a:r>
              <a:rPr lang="de-DE" dirty="0" err="1"/>
              <a:t>diagnostic</a:t>
            </a:r>
            <a:r>
              <a:rPr lang="de-DE" dirty="0"/>
              <a:t> </a:t>
            </a:r>
            <a:r>
              <a:rPr lang="de-DE" dirty="0" err="1"/>
              <a:t>odds</a:t>
            </a:r>
            <a:r>
              <a:rPr lang="de-DE" dirty="0"/>
              <a:t> </a:t>
            </a:r>
            <a:r>
              <a:rPr lang="de-DE" dirty="0" err="1"/>
              <a:t>ratio</a:t>
            </a:r>
            <a:r>
              <a:rPr lang="de-DE" dirty="0"/>
              <a:t>) vs. </a:t>
            </a:r>
            <a:r>
              <a:rPr lang="de-DE" dirty="0" err="1"/>
              <a:t>standard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(</a:t>
            </a:r>
            <a:r>
              <a:rPr lang="de-DE" dirty="0" err="1"/>
              <a:t>publication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assessment</a:t>
            </a:r>
            <a:r>
              <a:rPr lang="de-DE" dirty="0"/>
              <a:t>)</a:t>
            </a:r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60" b="2956"/>
          <a:stretch/>
        </p:blipFill>
        <p:spPr>
          <a:xfrm>
            <a:off x="2051951" y="1990725"/>
            <a:ext cx="5263249" cy="4555599"/>
          </a:xfr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7902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</a:t>
            </a:r>
            <a:r>
              <a:rPr lang="de-DE" dirty="0" err="1"/>
              <a:t>metamisc</a:t>
            </a:r>
            <a:r>
              <a:rPr lang="de-DE" dirty="0"/>
              <a:t>‘ </a:t>
            </a:r>
            <a:r>
              <a:rPr lang="de-DE" dirty="0" err="1"/>
              <a:t>package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865" y="1825625"/>
            <a:ext cx="4364269" cy="4351338"/>
          </a:xfrm>
        </p:spPr>
      </p:pic>
      <p:sp>
        <p:nvSpPr>
          <p:cNvPr id="5" name="Rechteck 4"/>
          <p:cNvSpPr/>
          <p:nvPr/>
        </p:nvSpPr>
        <p:spPr>
          <a:xfrm>
            <a:off x="628650" y="2072759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riley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668509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Worked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packages</a:t>
            </a:r>
            <a:r>
              <a:rPr lang="de-DE" dirty="0"/>
              <a:t> (IV)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#4.) </a:t>
            </a:r>
            <a:r>
              <a:rPr lang="de-DE" sz="1800" dirty="0" err="1"/>
              <a:t>bamdit</a:t>
            </a:r>
            <a:endParaRPr lang="de-DE" sz="1800" dirty="0"/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bamdit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metadiag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two.by.two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re.model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SeSp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24823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</a:t>
            </a:r>
            <a:r>
              <a:rPr lang="de-DE" dirty="0" err="1"/>
              <a:t>bamdit</a:t>
            </a:r>
            <a:r>
              <a:rPr lang="de-DE" dirty="0"/>
              <a:t>‘ </a:t>
            </a:r>
            <a:r>
              <a:rPr lang="de-DE" dirty="0" err="1"/>
              <a:t>package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825625"/>
            <a:ext cx="29241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metadiag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two.by.two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=TRUE, 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re.model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SeSp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920" y="1690689"/>
            <a:ext cx="4480680" cy="4467225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211083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Worked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packages</a:t>
            </a:r>
            <a:r>
              <a:rPr lang="de-DE" dirty="0"/>
              <a:t> (V)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085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de-DE" sz="4000" dirty="0"/>
              <a:t>#5.) meta4diag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(meta4diag)</a:t>
            </a:r>
          </a:p>
          <a:p>
            <a:pPr marL="0" indent="0">
              <a:buNone/>
            </a:pP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("INLA",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=c(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getOption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"), INLA="https://inla.r-inla-download.org/R/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stable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"),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(INLA)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&lt;- meta4diag(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outdata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makeData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Dementia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=1)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outpriors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makePriors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var.prior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invgamma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cor.prior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"normal",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var.par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c(0.25, 0.025),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cor.par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c(0, 5))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runModel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outdata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outpriors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link = 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buNone/>
            </a:pP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quantiles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c(0.025, 0.5, 0.975), verbose = FALSE)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88351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‚meat4diag‘ </a:t>
            </a:r>
            <a:r>
              <a:rPr lang="de-DE" dirty="0" err="1"/>
              <a:t>package</a:t>
            </a:r>
            <a:endParaRPr lang="de-DE" dirty="0"/>
          </a:p>
        </p:txBody>
      </p:sp>
      <p:sp>
        <p:nvSpPr>
          <p:cNvPr id="3" name="Rechteck 2"/>
          <p:cNvSpPr/>
          <p:nvPr/>
        </p:nvSpPr>
        <p:spPr>
          <a:xfrm>
            <a:off x="628650" y="1933486"/>
            <a:ext cx="30765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crosshair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3" r="5416" b="2564"/>
          <a:stretch/>
        </p:blipFill>
        <p:spPr>
          <a:xfrm>
            <a:off x="3493252" y="1690689"/>
            <a:ext cx="4985444" cy="4910136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080185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‚meat4diag‘ </a:t>
            </a:r>
            <a:r>
              <a:rPr lang="de-DE" dirty="0" err="1"/>
              <a:t>package</a:t>
            </a:r>
            <a:endParaRPr lang="de-DE" dirty="0"/>
          </a:p>
        </p:txBody>
      </p:sp>
      <p:pic>
        <p:nvPicPr>
          <p:cNvPr id="6" name="Inhaltsplatzhalt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515" y="1825625"/>
            <a:ext cx="4763410" cy="4749296"/>
          </a:xfrm>
        </p:spPr>
      </p:pic>
      <p:sp>
        <p:nvSpPr>
          <p:cNvPr id="3" name="Rechteck 2"/>
          <p:cNvSpPr/>
          <p:nvPr/>
        </p:nvSpPr>
        <p:spPr>
          <a:xfrm>
            <a:off x="628650" y="1933486"/>
            <a:ext cx="30765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accuracy.type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="sens")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forest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accuracy.type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61693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‚meat4diag‘ </a:t>
            </a:r>
            <a:r>
              <a:rPr lang="de-DE" dirty="0" err="1"/>
              <a:t>package</a:t>
            </a:r>
            <a:endParaRPr lang="de-DE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090" y="1825625"/>
            <a:ext cx="4364269" cy="4351338"/>
          </a:xfrm>
        </p:spPr>
      </p:pic>
      <p:sp>
        <p:nvSpPr>
          <p:cNvPr id="3" name="Rechteck 2"/>
          <p:cNvSpPr/>
          <p:nvPr/>
        </p:nvSpPr>
        <p:spPr>
          <a:xfrm>
            <a:off x="628650" y="2982010"/>
            <a:ext cx="23145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#ROC-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Plotting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SROC(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</a:t>
            </a:r>
            <a:r>
              <a:rPr lang="de-DE" dirty="0"/>
              <a:t>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169337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Worked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packages</a:t>
            </a:r>
            <a:r>
              <a:rPr lang="de-DE" dirty="0"/>
              <a:t> (VI)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#6.)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diagmeta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considers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multiple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cutoffs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diagmeta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(Schneider)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(Schneider2017)</a:t>
            </a:r>
          </a:p>
          <a:p>
            <a:pPr marL="0" indent="0">
              <a:buNone/>
            </a:pP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diag1 &lt;-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diagmeta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tpos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fpos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tneg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fneg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cutpoint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studlab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paste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Schneider2017,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"DIDS", </a:t>
            </a: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log.cutoff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(diag1)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(diag1)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(diag1)</a:t>
            </a:r>
          </a:p>
          <a:p>
            <a:pPr marL="0" indent="0">
              <a:buNone/>
            </a:pPr>
            <a:r>
              <a:rPr 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diagstats</a:t>
            </a:r>
            <a:r>
              <a:rPr 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(diag1)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527705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‚</a:t>
            </a:r>
            <a:r>
              <a:rPr lang="de-DE" dirty="0" err="1"/>
              <a:t>diagmeta</a:t>
            </a:r>
            <a:r>
              <a:rPr lang="de-DE" dirty="0"/>
              <a:t>‘ </a:t>
            </a:r>
            <a:r>
              <a:rPr lang="de-DE" dirty="0" err="1"/>
              <a:t>package</a:t>
            </a:r>
            <a:endParaRPr lang="de-DE" dirty="0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470" y="1690689"/>
            <a:ext cx="5011060" cy="4996213"/>
          </a:xfr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99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02494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reading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2400" dirty="0">
                <a:hlinkClick r:id="rId2"/>
              </a:rPr>
              <a:t>https://www.ncbi.nlm.nih.gov/pmc/articles/PMC3024725/</a:t>
            </a:r>
            <a:endParaRPr lang="de-DE" sz="2400" dirty="0"/>
          </a:p>
          <a:p>
            <a:r>
              <a:rPr lang="de-DE" sz="2400" dirty="0">
                <a:hlinkClick r:id="rId3"/>
              </a:rPr>
              <a:t>https://bookdown.org/MathiasHarrer/Doing_Meta_Analysis_in_R/</a:t>
            </a:r>
            <a:r>
              <a:rPr lang="de-DE" sz="2400" dirty="0"/>
              <a:t> </a:t>
            </a:r>
          </a:p>
          <a:p>
            <a:r>
              <a:rPr lang="de-DE" sz="2400" dirty="0">
                <a:hlinkClick r:id="rId4"/>
              </a:rPr>
              <a:t>http://www.metafor-project.org/doku.php</a:t>
            </a:r>
            <a:endParaRPr lang="de-DE" sz="2400" dirty="0"/>
          </a:p>
          <a:p>
            <a:r>
              <a:rPr lang="de-DE" sz="2400" dirty="0">
                <a:hlinkClick r:id="rId5"/>
              </a:rPr>
              <a:t>https://cran.r-project.org/web/packages/mada/vignettes/mada.pdf</a:t>
            </a:r>
            <a:endParaRPr lang="de-DE" sz="2400" dirty="0"/>
          </a:p>
          <a:p>
            <a:r>
              <a:rPr lang="de-DE" sz="2400" dirty="0"/>
              <a:t>CRAN Task View: Meta-Analysis (</a:t>
            </a:r>
            <a:r>
              <a:rPr lang="de-DE" sz="2400" dirty="0">
                <a:hlinkClick r:id="rId6"/>
              </a:rPr>
              <a:t>http://cran.r-project.org/web/views/MetaAnalysis.html</a:t>
            </a:r>
            <a:r>
              <a:rPr lang="de-DE" sz="2400" dirty="0"/>
              <a:t>)</a:t>
            </a:r>
          </a:p>
          <a:p>
            <a:r>
              <a:rPr lang="de-DE" sz="2400" dirty="0"/>
              <a:t>Meta-analysis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diagnostic</a:t>
            </a:r>
            <a:r>
              <a:rPr lang="de-DE" sz="2400" dirty="0"/>
              <a:t> </a:t>
            </a:r>
            <a:r>
              <a:rPr lang="de-DE" sz="2400" dirty="0" err="1"/>
              <a:t>accuracy</a:t>
            </a:r>
            <a:r>
              <a:rPr lang="de-DE" sz="2400" dirty="0"/>
              <a:t> </a:t>
            </a:r>
            <a:r>
              <a:rPr lang="de-DE" sz="2400" dirty="0" err="1"/>
              <a:t>studies</a:t>
            </a:r>
            <a:r>
              <a:rPr lang="de-DE" sz="2400" dirty="0"/>
              <a:t> in </a:t>
            </a:r>
            <a:r>
              <a:rPr lang="de-DE" sz="2400" dirty="0" err="1"/>
              <a:t>Stata</a:t>
            </a:r>
            <a:r>
              <a:rPr lang="de-DE" sz="2400" dirty="0"/>
              <a:t>: </a:t>
            </a:r>
          </a:p>
          <a:p>
            <a:pPr marL="0" indent="0">
              <a:buNone/>
            </a:pPr>
            <a:r>
              <a:rPr lang="de-DE" sz="2400" dirty="0" err="1"/>
              <a:t>doi</a:t>
            </a:r>
            <a:r>
              <a:rPr lang="de-DE" sz="2400" dirty="0"/>
              <a:t> 10.1007/978-1-0716-1566-9_11</a:t>
            </a:r>
          </a:p>
          <a:p>
            <a:r>
              <a:rPr lang="de-DE" sz="2400" dirty="0"/>
              <a:t>And in SAS: </a:t>
            </a:r>
            <a:r>
              <a:rPr lang="de-DE" sz="2400" dirty="0" err="1"/>
              <a:t>google</a:t>
            </a:r>
            <a:r>
              <a:rPr lang="de-DE" sz="2400" dirty="0"/>
              <a:t> „</a:t>
            </a:r>
            <a:r>
              <a:rPr lang="en-US" sz="2400" dirty="0" err="1"/>
              <a:t>MetaDAS</a:t>
            </a:r>
            <a:r>
              <a:rPr lang="en-US" sz="2400" dirty="0"/>
              <a:t>: A SAS macro for meta-analysis of diagnostic accuracy studies</a:t>
            </a:r>
            <a:r>
              <a:rPr lang="en-US" sz="2000" dirty="0"/>
              <a:t>”</a:t>
            </a:r>
            <a:endParaRPr lang="de-DE" sz="2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100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77387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reading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sz="2200" dirty="0"/>
              <a:t>Schwarzer, Guido, Carpenter, James R., Rücker, Gerta. </a:t>
            </a:r>
            <a:r>
              <a:rPr lang="de-DE" sz="2200" b="1" dirty="0"/>
              <a:t>Meta-Analysis </a:t>
            </a:r>
            <a:r>
              <a:rPr lang="de-DE" sz="2200" b="1" dirty="0" err="1"/>
              <a:t>with</a:t>
            </a:r>
            <a:r>
              <a:rPr lang="de-DE" sz="2200" b="1" dirty="0"/>
              <a:t> R</a:t>
            </a:r>
            <a:r>
              <a:rPr lang="de-DE" sz="2200" dirty="0"/>
              <a:t>, Springer (</a:t>
            </a:r>
            <a:r>
              <a:rPr lang="de-DE" sz="2200" dirty="0" err="1"/>
              <a:t>Use</a:t>
            </a:r>
            <a:r>
              <a:rPr lang="de-DE" sz="2200" dirty="0"/>
              <a:t> R! </a:t>
            </a:r>
            <a:r>
              <a:rPr lang="de-DE" sz="2200" dirty="0" err="1"/>
              <a:t>series</a:t>
            </a:r>
            <a:r>
              <a:rPr lang="de-DE" sz="2200" dirty="0"/>
              <a:t>)</a:t>
            </a:r>
            <a:endParaRPr lang="de-DE" sz="2200" b="1" dirty="0"/>
          </a:p>
          <a:p>
            <a:r>
              <a:rPr lang="en-US" sz="2200" dirty="0" err="1"/>
              <a:t>Bravata</a:t>
            </a:r>
            <a:r>
              <a:rPr lang="en-US" sz="2200" dirty="0"/>
              <a:t> DM, </a:t>
            </a:r>
            <a:r>
              <a:rPr lang="en-US" sz="2200" dirty="0" err="1"/>
              <a:t>Olkin</a:t>
            </a:r>
            <a:r>
              <a:rPr lang="en-US" sz="2200" dirty="0"/>
              <a:t> I, </a:t>
            </a:r>
            <a:r>
              <a:rPr lang="en-US" sz="2200" b="1" dirty="0"/>
              <a:t>Simple pooling versus combining in meta-analysis, </a:t>
            </a:r>
            <a:r>
              <a:rPr lang="en-US" sz="2200" b="1" dirty="0" err="1"/>
              <a:t>Eval</a:t>
            </a:r>
            <a:r>
              <a:rPr lang="en-US" sz="2200" b="1" dirty="0"/>
              <a:t> Health Prof </a:t>
            </a:r>
            <a:r>
              <a:rPr lang="en-US" sz="2200" dirty="0"/>
              <a:t>(2001)</a:t>
            </a:r>
          </a:p>
          <a:p>
            <a:r>
              <a:rPr lang="en-US" sz="2200" dirty="0" err="1"/>
              <a:t>Borenstein</a:t>
            </a:r>
            <a:r>
              <a:rPr lang="en-US" sz="2200" dirty="0"/>
              <a:t>, M., Hedges, L. V., Higgins, J. P., and Rothstein, H. R. (2009). </a:t>
            </a:r>
            <a:r>
              <a:rPr lang="en-US" sz="2200" b="1" dirty="0"/>
              <a:t>Introduction </a:t>
            </a:r>
            <a:r>
              <a:rPr lang="de-DE" sz="2200" b="1" dirty="0" err="1"/>
              <a:t>to</a:t>
            </a:r>
            <a:r>
              <a:rPr lang="de-DE" sz="2200" b="1" dirty="0"/>
              <a:t> Meta-Analysis</a:t>
            </a:r>
            <a:r>
              <a:rPr lang="de-DE" sz="2200" dirty="0"/>
              <a:t>. </a:t>
            </a:r>
            <a:r>
              <a:rPr lang="de-DE" sz="2200" dirty="0" err="1"/>
              <a:t>Wiley</a:t>
            </a:r>
            <a:r>
              <a:rPr lang="de-DE" sz="2200" dirty="0"/>
              <a:t>.</a:t>
            </a:r>
          </a:p>
          <a:p>
            <a:r>
              <a:rPr lang="en-US" sz="2200" dirty="0"/>
              <a:t>Chen, D.-G. and Peace, K. E. (2013). </a:t>
            </a:r>
            <a:r>
              <a:rPr lang="en-US" sz="2200" b="1" dirty="0"/>
              <a:t>Applied Meta-Analysis with R</a:t>
            </a:r>
            <a:r>
              <a:rPr lang="en-US" sz="2200" dirty="0"/>
              <a:t>. Chapman &amp; </a:t>
            </a:r>
            <a:r>
              <a:rPr lang="de-DE" sz="2200" dirty="0"/>
              <a:t>Hall/CRC </a:t>
            </a:r>
            <a:r>
              <a:rPr lang="de-DE" sz="2200" dirty="0" err="1"/>
              <a:t>Biostatistics</a:t>
            </a:r>
            <a:r>
              <a:rPr lang="de-DE" sz="2200" dirty="0"/>
              <a:t> Series</a:t>
            </a:r>
          </a:p>
          <a:p>
            <a:r>
              <a:rPr lang="en-US" sz="2200" dirty="0"/>
              <a:t>Cochrane Collaboration (2020). </a:t>
            </a:r>
            <a:r>
              <a:rPr lang="en-US" sz="2200" b="1" dirty="0"/>
              <a:t>Cochrane Handbook for Systematic Reviews of </a:t>
            </a:r>
            <a:r>
              <a:rPr lang="de-DE" sz="2200" b="1" dirty="0" err="1"/>
              <a:t>Interventions</a:t>
            </a:r>
            <a:r>
              <a:rPr lang="de-DE" sz="2200" dirty="0"/>
              <a:t>. Version 6.1. </a:t>
            </a:r>
            <a:r>
              <a:rPr lang="de-DE" sz="2200" dirty="0" err="1"/>
              <a:t>Wiley</a:t>
            </a:r>
            <a:r>
              <a:rPr lang="de-DE" sz="2200" dirty="0"/>
              <a:t>. URL: </a:t>
            </a:r>
            <a:r>
              <a:rPr lang="de-DE" sz="2200" dirty="0">
                <a:hlinkClick r:id="rId2"/>
              </a:rPr>
              <a:t>https://training.cochrane.org/handbook/current</a:t>
            </a:r>
            <a:endParaRPr lang="de-DE" sz="2200" dirty="0"/>
          </a:p>
          <a:p>
            <a:r>
              <a:rPr lang="en-US" sz="2400" dirty="0"/>
              <a:t>Egger, M., Davey-Smith, G., and Altman, D. G. (2000). </a:t>
            </a:r>
            <a:r>
              <a:rPr lang="en-US" sz="2400" b="1" dirty="0"/>
              <a:t>Practical Meta-Analysis</a:t>
            </a:r>
            <a:r>
              <a:rPr lang="en-US" sz="2400" dirty="0"/>
              <a:t>. Wiley.</a:t>
            </a:r>
          </a:p>
          <a:p>
            <a:r>
              <a:rPr lang="en-US" sz="2400" dirty="0" err="1"/>
              <a:t>Welton</a:t>
            </a:r>
            <a:r>
              <a:rPr lang="en-US" sz="2400" dirty="0"/>
              <a:t>, N. J., Sutton, A. J., Cooper, N. J., Abrams, K. R., and Ades, A. E. (2012). </a:t>
            </a:r>
            <a:r>
              <a:rPr lang="en-US" sz="2400" b="1" dirty="0"/>
              <a:t>Evidence Synthesis for Decision Making in Healthcare</a:t>
            </a:r>
            <a:r>
              <a:rPr lang="en-US" sz="2400" dirty="0"/>
              <a:t>. Statistics in Practice. Wiley</a:t>
            </a:r>
          </a:p>
          <a:p>
            <a:endParaRPr lang="de-DE"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101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680248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reading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Duval, S. and Tweedie, R. (2000). </a:t>
            </a:r>
            <a:r>
              <a:rPr lang="en-US" b="1" dirty="0"/>
              <a:t>Trim and fill: A simple funnel-plot-based method of testing and adjusting for publication bias in meta-analysis</a:t>
            </a:r>
            <a:r>
              <a:rPr lang="en-US" dirty="0"/>
              <a:t>. Biometrics, </a:t>
            </a:r>
            <a:r>
              <a:rPr lang="de-DE" dirty="0"/>
              <a:t>56(2):455–463.</a:t>
            </a:r>
          </a:p>
          <a:p>
            <a:r>
              <a:rPr lang="en-US" dirty="0" err="1"/>
              <a:t>DerSimonian</a:t>
            </a:r>
            <a:r>
              <a:rPr lang="en-US" dirty="0"/>
              <a:t>, R. and Laird, N. (1986). </a:t>
            </a:r>
            <a:r>
              <a:rPr lang="en-US" b="1" dirty="0"/>
              <a:t>Meta-analysis in clinical trials</a:t>
            </a:r>
            <a:r>
              <a:rPr lang="en-US" dirty="0"/>
              <a:t>. Control </a:t>
            </a:r>
            <a:r>
              <a:rPr lang="en-US" dirty="0" err="1"/>
              <a:t>Clin</a:t>
            </a:r>
            <a:r>
              <a:rPr lang="en-US" dirty="0"/>
              <a:t> </a:t>
            </a:r>
            <a:r>
              <a:rPr lang="de-DE" dirty="0"/>
              <a:t>Trials, 7(3):177–188.</a:t>
            </a:r>
          </a:p>
          <a:p>
            <a:r>
              <a:rPr lang="de-DE" dirty="0"/>
              <a:t>Egger, M., </a:t>
            </a:r>
            <a:r>
              <a:rPr lang="de-DE" dirty="0" err="1"/>
              <a:t>Davey</a:t>
            </a:r>
            <a:r>
              <a:rPr lang="de-DE" dirty="0"/>
              <a:t> Smith, G., Schneider, M., </a:t>
            </a:r>
            <a:r>
              <a:rPr lang="de-DE" dirty="0" err="1"/>
              <a:t>and</a:t>
            </a:r>
            <a:r>
              <a:rPr lang="de-DE" dirty="0"/>
              <a:t> Minder, C. (1997). </a:t>
            </a:r>
            <a:r>
              <a:rPr lang="de-DE" b="1" dirty="0"/>
              <a:t>Bias in </a:t>
            </a:r>
            <a:r>
              <a:rPr lang="en-US" b="1" dirty="0"/>
              <a:t>meta-analysis detected by a simple, graphical test</a:t>
            </a:r>
            <a:r>
              <a:rPr lang="en-US" dirty="0"/>
              <a:t>. BMJ, 315(7109):629–634.</a:t>
            </a:r>
          </a:p>
          <a:p>
            <a:r>
              <a:rPr lang="en-US" dirty="0"/>
              <a:t>Higgins, J. P., Thompson, S. G., </a:t>
            </a:r>
            <a:r>
              <a:rPr lang="en-US" dirty="0" err="1"/>
              <a:t>Deeks</a:t>
            </a:r>
            <a:r>
              <a:rPr lang="en-US" dirty="0"/>
              <a:t>, J. J., and Altman, D. G. (2003). </a:t>
            </a:r>
            <a:r>
              <a:rPr lang="en-US" b="1" dirty="0"/>
              <a:t>Measuring </a:t>
            </a:r>
            <a:r>
              <a:rPr lang="de-DE" b="1" dirty="0" err="1"/>
              <a:t>inconsistency</a:t>
            </a:r>
            <a:r>
              <a:rPr lang="de-DE" b="1" dirty="0"/>
              <a:t> in meta-</a:t>
            </a:r>
            <a:r>
              <a:rPr lang="de-DE" b="1" dirty="0" err="1"/>
              <a:t>analyses</a:t>
            </a:r>
            <a:r>
              <a:rPr lang="de-DE" dirty="0"/>
              <a:t>. BMJ, 327(7414):557–560.</a:t>
            </a:r>
          </a:p>
          <a:p>
            <a:r>
              <a:rPr lang="de-DE" dirty="0"/>
              <a:t>https://www.meta-analysis-workshops.com/download/bookChapterSample.pdf</a:t>
            </a:r>
          </a:p>
          <a:p>
            <a:r>
              <a:rPr lang="de-DE" dirty="0" err="1"/>
              <a:t>Leeflang</a:t>
            </a:r>
            <a:r>
              <a:rPr lang="de-DE" dirty="0"/>
              <a:t>, M.M.G. (2014). </a:t>
            </a:r>
            <a:r>
              <a:rPr lang="en-US" b="1" dirty="0"/>
              <a:t>Systematic reviews and meta-analyses of diagnostic test accuracy</a:t>
            </a:r>
            <a:r>
              <a:rPr lang="en-US" dirty="0"/>
              <a:t>. </a:t>
            </a:r>
            <a:r>
              <a:rPr lang="de-DE" dirty="0" err="1"/>
              <a:t>Clin</a:t>
            </a:r>
            <a:r>
              <a:rPr lang="de-DE" dirty="0"/>
              <a:t> </a:t>
            </a:r>
            <a:r>
              <a:rPr lang="de-DE" dirty="0" err="1"/>
              <a:t>Microbiol</a:t>
            </a:r>
            <a:r>
              <a:rPr lang="de-DE" dirty="0"/>
              <a:t> </a:t>
            </a:r>
            <a:r>
              <a:rPr lang="de-DE" dirty="0" err="1"/>
              <a:t>Infect</a:t>
            </a:r>
            <a:r>
              <a:rPr lang="de-DE" dirty="0"/>
              <a:t> 2019 Nov;25(11):1315-1327</a:t>
            </a:r>
          </a:p>
          <a:p>
            <a:r>
              <a:rPr lang="de-DE" dirty="0" err="1"/>
              <a:t>Doebler</a:t>
            </a:r>
            <a:r>
              <a:rPr lang="de-DE" dirty="0"/>
              <a:t> P. (2020). </a:t>
            </a:r>
            <a:r>
              <a:rPr lang="en-US" b="1" dirty="0"/>
              <a:t>Meta-Analysis of Diagnostic Accuracy with </a:t>
            </a:r>
            <a:r>
              <a:rPr lang="en-US" b="1" dirty="0" err="1"/>
              <a:t>mada</a:t>
            </a:r>
            <a:r>
              <a:rPr lang="en-US" dirty="0"/>
              <a:t> (R package vignette)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85A77-EB3D-45C2-BA16-F5D3E35529D0}" type="slidenum">
              <a:rPr lang="de-DE" smtClean="0"/>
              <a:t>102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Niedermaier</a:t>
            </a:r>
            <a:r>
              <a:rPr lang="en-US" dirty="0"/>
              <a:t> - Systematic reviews </a:t>
            </a:r>
          </a:p>
          <a:p>
            <a:r>
              <a:rPr lang="en-US" dirty="0"/>
              <a:t>and meta-analysis in 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893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9197</Words>
  <Application>Microsoft Office PowerPoint</Application>
  <PresentationFormat>Bildschirmpräsentation (4:3)</PresentationFormat>
  <Paragraphs>1073</Paragraphs>
  <Slides>102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102</vt:i4>
      </vt:variant>
    </vt:vector>
  </HeadingPairs>
  <TitlesOfParts>
    <vt:vector size="109" baseType="lpstr">
      <vt:lpstr>Arial</vt:lpstr>
      <vt:lpstr>Calibri</vt:lpstr>
      <vt:lpstr>Calibri Light</vt:lpstr>
      <vt:lpstr>Cambria Math</vt:lpstr>
      <vt:lpstr>Courier New</vt:lpstr>
      <vt:lpstr>Times New Roman</vt:lpstr>
      <vt:lpstr>Office</vt:lpstr>
      <vt:lpstr>Systematic reviews, Meta-analysis in R – a practical guide Clinical Epidemiology - Principles, Methods and Applications</vt:lpstr>
      <vt:lpstr>Overview</vt:lpstr>
      <vt:lpstr>Background – Systematic reviews</vt:lpstr>
      <vt:lpstr>Background – Meta-analysis</vt:lpstr>
      <vt:lpstr>Background</vt:lpstr>
      <vt:lpstr>Background</vt:lpstr>
      <vt:lpstr>Background</vt:lpstr>
      <vt:lpstr>Background</vt:lpstr>
      <vt:lpstr>Background</vt:lpstr>
      <vt:lpstr>Background</vt:lpstr>
      <vt:lpstr>First 14  of the 27 PRISMA checklist items</vt:lpstr>
      <vt:lpstr>Remaining PRISMA checklist items</vt:lpstr>
      <vt:lpstr>Background</vt:lpstr>
      <vt:lpstr>Search strategy – sources</vt:lpstr>
      <vt:lpstr>Search strategy – search terms</vt:lpstr>
      <vt:lpstr>Search strategy – example in PubMed and Web of Science</vt:lpstr>
      <vt:lpstr>Search strategy – example in PubMed and Web of Science</vt:lpstr>
      <vt:lpstr>Search</vt:lpstr>
      <vt:lpstr>PRISMA Flow Diagram</vt:lpstr>
      <vt:lpstr>Key ideas of meta-analysis</vt:lpstr>
      <vt:lpstr>Why naïve pooling is not reasonable</vt:lpstr>
      <vt:lpstr>Why naïve pooling is not reasonable</vt:lpstr>
      <vt:lpstr>Why naïve pooling is not reasonable</vt:lpstr>
      <vt:lpstr>Effect measures</vt:lpstr>
      <vt:lpstr>Important statistical issues in meta-analysis</vt:lpstr>
      <vt:lpstr>Fixed-effect models</vt:lpstr>
      <vt:lpstr>Fixed-effect models</vt:lpstr>
      <vt:lpstr>Fixed-effect models</vt:lpstr>
      <vt:lpstr>Random-effects models</vt:lpstr>
      <vt:lpstr>Random-effects models</vt:lpstr>
      <vt:lpstr>Random-effects models</vt:lpstr>
      <vt:lpstr>Random-effects models</vt:lpstr>
      <vt:lpstr>Random-effects models</vt:lpstr>
      <vt:lpstr>Should I take a fixed or random-effects model?</vt:lpstr>
      <vt:lpstr>Forest plot</vt:lpstr>
      <vt:lpstr>Heterogeneity</vt:lpstr>
      <vt:lpstr>Heterogeneity</vt:lpstr>
      <vt:lpstr>Heterogeneity</vt:lpstr>
      <vt:lpstr>Heterogeneity</vt:lpstr>
      <vt:lpstr>Heterogeneity</vt:lpstr>
      <vt:lpstr>Publication bias</vt:lpstr>
      <vt:lpstr>Funnel plot</vt:lpstr>
      <vt:lpstr>Publication bias – example</vt:lpstr>
      <vt:lpstr>Study quality assessment</vt:lpstr>
      <vt:lpstr>Example: Meta-analysis in R</vt:lpstr>
      <vt:lpstr>Worked examples using the ‘meta’ package</vt:lpstr>
      <vt:lpstr>meta package – function ‘metacont‘ </vt:lpstr>
      <vt:lpstr>meta package – function ‘metacont’</vt:lpstr>
      <vt:lpstr>meta package – meta-regression</vt:lpstr>
      <vt:lpstr>meta package – meta-regression</vt:lpstr>
      <vt:lpstr>Example outputs (plots) from the ‘meta’ package</vt:lpstr>
      <vt:lpstr>Example output (plot) from the ‘meta’ package</vt:lpstr>
      <vt:lpstr>Worked examples using the ‘metafor’ package (I)</vt:lpstr>
      <vt:lpstr>Worked examples using the ‘metafor’ package (II)</vt:lpstr>
      <vt:lpstr>Worked examples using the ‘metafor’ package (III)</vt:lpstr>
      <vt:lpstr>Example outputs from metafor</vt:lpstr>
      <vt:lpstr>Example outputs from metafor</vt:lpstr>
      <vt:lpstr>Example outputs from metafor</vt:lpstr>
      <vt:lpstr>Trim-and-fill method</vt:lpstr>
      <vt:lpstr>PowerPoint-Präsentation</vt:lpstr>
      <vt:lpstr>PowerPoint-Präsentation</vt:lpstr>
      <vt:lpstr>Further notes</vt:lpstr>
      <vt:lpstr>PowerPoint-Präsentation</vt:lpstr>
      <vt:lpstr>Choice of the “method” used with rma.uni() in metafor</vt:lpstr>
      <vt:lpstr>Choice of the “method” used with rma.uni() in metafor</vt:lpstr>
      <vt:lpstr>Meta-analysis if only RR (or OR) and confidence intervals are known</vt:lpstr>
      <vt:lpstr>Take-home messages</vt:lpstr>
      <vt:lpstr>PowerPoint-Präsentation</vt:lpstr>
      <vt:lpstr>Useful R packages for meta-analysis</vt:lpstr>
      <vt:lpstr>Add-on: Diagnostic test studies</vt:lpstr>
      <vt:lpstr>Diagnostic test studies</vt:lpstr>
      <vt:lpstr>Diagnostic test studies</vt:lpstr>
      <vt:lpstr>Dataset preparation (I)</vt:lpstr>
      <vt:lpstr>First 13  of the 30 STARD checklist items</vt:lpstr>
      <vt:lpstr>Remaining STARD checklist items</vt:lpstr>
      <vt:lpstr>Dataset preparation (II)</vt:lpstr>
      <vt:lpstr>Analysis in R (I)</vt:lpstr>
      <vt:lpstr>Analysis in R (II)</vt:lpstr>
      <vt:lpstr>Analysis in R (III)</vt:lpstr>
      <vt:lpstr>Analysis in R (IV) - Result of summary(reitsma_model): </vt:lpstr>
      <vt:lpstr>Analysis in R (V) – Explanation of  the output </vt:lpstr>
      <vt:lpstr>R packages suitable for meta-analysis of diagnostic tests</vt:lpstr>
      <vt:lpstr>Worked examples for selected packages (I)</vt:lpstr>
      <vt:lpstr>Example output ‚mada‘ package (I)</vt:lpstr>
      <vt:lpstr>Example output ‚mada‘ package (II)</vt:lpstr>
      <vt:lpstr>Example output ‚mada‘ package (III)</vt:lpstr>
      <vt:lpstr>Example output ‚mada‘ package (IV)</vt:lpstr>
      <vt:lpstr>Worked examples for selected packages (II)</vt:lpstr>
      <vt:lpstr>Worked examples for selected packages (III)</vt:lpstr>
      <vt:lpstr>Plot of log(diagnostic odds ratio) vs. standard error (publication bias assessment)</vt:lpstr>
      <vt:lpstr>Example output ‚metamisc‘ package</vt:lpstr>
      <vt:lpstr>Worked examples for selected packages (IV)</vt:lpstr>
      <vt:lpstr>Example output ‚bamdit‘ package</vt:lpstr>
      <vt:lpstr>Worked examples for selected packages (V)</vt:lpstr>
      <vt:lpstr>Example output ‚meat4diag‘ package</vt:lpstr>
      <vt:lpstr>Example output ‚meat4diag‘ package</vt:lpstr>
      <vt:lpstr>Example output ‚meat4diag‘ package</vt:lpstr>
      <vt:lpstr>Worked examples for selected packages (VI)</vt:lpstr>
      <vt:lpstr>Example output ‚diagmeta‘ package</vt:lpstr>
      <vt:lpstr>References and further reading</vt:lpstr>
      <vt:lpstr>References and further reading</vt:lpstr>
      <vt:lpstr>References and further reading</vt:lpstr>
    </vt:vector>
  </TitlesOfParts>
  <Company>DKFZ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Niedermaier, Tobias</dc:creator>
  <cp:lastModifiedBy>Tobias Niedermaier</cp:lastModifiedBy>
  <cp:revision>659</cp:revision>
  <dcterms:created xsi:type="dcterms:W3CDTF">2020-01-16T08:43:45Z</dcterms:created>
  <dcterms:modified xsi:type="dcterms:W3CDTF">2023-02-12T17:11:07Z</dcterms:modified>
</cp:coreProperties>
</file>